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導入前（月間電気代）</c:v>
                </c:pt>
              </c:strCache>
            </c:strRef>
          </c:tx>
          <c:spPr>
            <a:solidFill>
              <a:srgbClr val="DCEEE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27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〔施工事例A〕</c:v>
                  </c:pt>
                  <c:pt idx="1">
                    <c:v>〔施工事例B〕</c:v>
                  </c:pt>
                  <c:pt idx="2">
                    <c:v>〔施工事例C〕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導入後（月間電気代）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27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〔施工事例A〕</c:v>
                  </c:pt>
                  <c:pt idx="1">
                    <c:v>〔施工事例B〕</c:v>
                  </c:pt>
                  <c:pt idx="2">
                    <c:v>〔施工事例C〕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</c:v>
                </c:pt>
                <c:pt idx="1">
                  <c:v>55</c:v>
                </c:pt>
                <c:pt idx="2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427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427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F0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指数（導入前=100）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427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DOCUMENT REQUEST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8503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電気を「買う」から、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「創る」へ。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LED・省エネエアコン・太陽光パネル・蓄電池の導入で、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電気代（固定費）の実質負担を圧縮するご提案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6035040" cy="1554480"/>
          </a:xfrm>
          <a:prstGeom prst="roundRect">
            <a:avLst>
              <a:gd name="adj" fmla="val 5882"/>
            </a:avLst>
          </a:prstGeom>
          <a:solidFill>
            <a:srgbClr val="1236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電気代の実質負担を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8920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</a:t>
            </a:r>
            <a:pPr algn="l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〜</a:t>
            </a:r>
            <a:pPr algn="l" indent="0" marL="0">
              <a:buNone/>
            </a:pPr>
            <a:r>
              <a:rPr lang="en-US" sz="46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</a:t>
            </a:r>
            <a:pPr algn="l" indent="0" marL="0">
              <a:buNone/>
            </a:pPr>
            <a:r>
              <a:rPr lang="en-US" sz="28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14400" y="5715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F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　※自社施工実績に基づく実際の削減額です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発行：〔貴社名を記入〕　／　〔発行年月を記入〕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052560" y="0"/>
            <a:ext cx="3136392" cy="6858000"/>
          </a:xfrm>
          <a:prstGeom prst="rect">
            <a:avLst/>
          </a:prstGeom>
          <a:solidFill>
            <a:srgbClr val="12362B"/>
          </a:solidFill>
          <a:ln/>
        </p:spPr>
      </p:sp>
      <p:sp>
        <p:nvSpPr>
          <p:cNvPr id="11" name="Shape 9"/>
          <p:cNvSpPr/>
          <p:nvPr/>
        </p:nvSpPr>
        <p:spPr>
          <a:xfrm>
            <a:off x="9829800" y="1325880"/>
            <a:ext cx="1554480" cy="1554480"/>
          </a:xfrm>
          <a:prstGeom prst="ellipse">
            <a:avLst/>
          </a:prstGeom>
          <a:solidFill>
            <a:srgbClr val="1F5A47"/>
          </a:solidFill>
          <a:ln/>
        </p:spPr>
      </p:sp>
      <p:pic>
        <p:nvPicPr>
          <p:cNvPr id="12" name="Image 0" descr="/tmp/claude-0/-home-user-DM-/98b145ee-d85d-5913-a881-95f99ca0c0f7/scratchpad/josei-pptx/icons/solar_F2A9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2875" y="1698955"/>
            <a:ext cx="808330" cy="80833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532620" y="3589020"/>
            <a:ext cx="1051560" cy="1051560"/>
          </a:xfrm>
          <a:prstGeom prst="ellipse">
            <a:avLst/>
          </a:prstGeom>
          <a:solidFill>
            <a:srgbClr val="24634F"/>
          </a:solidFill>
          <a:ln/>
        </p:spPr>
      </p:sp>
      <p:pic>
        <p:nvPicPr>
          <p:cNvPr id="14" name="Image 1" descr="/tmp/claude-0/-home-user-DM-/98b145ee-d85d-5913-a881-95f99ca0c0f7/scratchpad/josei-pptx/icons/batter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994" y="3841394"/>
            <a:ext cx="546811" cy="546811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0629900" y="4594860"/>
            <a:ext cx="1051560" cy="1051560"/>
          </a:xfrm>
          <a:prstGeom prst="ellipse">
            <a:avLst/>
          </a:prstGeom>
          <a:solidFill>
            <a:srgbClr val="24634F"/>
          </a:solidFill>
          <a:ln/>
        </p:spPr>
      </p:sp>
      <p:pic>
        <p:nvPicPr>
          <p:cNvPr id="16" name="Image 2" descr="/tmp/claude-0/-home-user-DM-/98b145ee-d85d-5913-a881-95f99ca0c0f7/scratchpad/josei-pptx/icons/bulb_F2A93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2274" y="4847234"/>
            <a:ext cx="546811" cy="5468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こんなお悩み、ありませんか？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電気料金の高騰が続くいま、固定費としての重さを実感する経営者が増えています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2F7F4"/>
          </a:solidFill>
          <a:ln/>
        </p:spPr>
      </p:sp>
      <p:sp>
        <p:nvSpPr>
          <p:cNvPr id="5" name="Shape 3"/>
          <p:cNvSpPr/>
          <p:nvPr/>
        </p:nvSpPr>
        <p:spPr>
          <a:xfrm>
            <a:off x="982980" y="2331720"/>
            <a:ext cx="868680" cy="86868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6" name="Image 0" descr="/tmp/claude-0/-home-user-DM-/98b145ee-d85d-5913-a881-95f99ca0c0f7/scratchpad/josei-pptx/icons/bol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463" y="254020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011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電気代の高騰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11680" y="25146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電力単価の上昇で、購入する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電気のコストが年々増加している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2F7F4"/>
          </a:solidFill>
          <a:ln/>
        </p:spPr>
      </p:sp>
      <p:sp>
        <p:nvSpPr>
          <p:cNvPr id="10" name="Shape 7"/>
          <p:cNvSpPr/>
          <p:nvPr/>
        </p:nvSpPr>
        <p:spPr>
          <a:xfrm>
            <a:off x="6423660" y="2331720"/>
            <a:ext cx="868680" cy="86868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11" name="Image 1" descr="/tmp/claude-0/-home-user-DM-/98b145ee-d85d-5913-a881-95f99ca0c0f7/scratchpad/josei-pptx/icons/industr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143" y="254020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11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固定費としての重さ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52360" y="25146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毎月確実に発生し、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利益を圧迫し続けている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2F7F4"/>
          </a:solidFill>
          <a:ln/>
        </p:spPr>
      </p:sp>
      <p:sp>
        <p:nvSpPr>
          <p:cNvPr id="15" name="Shape 11"/>
          <p:cNvSpPr/>
          <p:nvPr/>
        </p:nvSpPr>
        <p:spPr>
          <a:xfrm>
            <a:off x="982980" y="4800600"/>
            <a:ext cx="868680" cy="86868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16" name="Image 2" descr="/tmp/claude-0/-home-user-DM-/98b145ee-d85d-5913-a881-95f99ca0c0f7/scratchpad/josei-pptx/icons/leaf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63" y="500908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480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脱炭素・省エネ対応の要請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2011680" y="49834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取引先や自治体から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CO2削減対応を求められている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80760" y="416052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2F7F4"/>
          </a:solidFill>
          <a:ln/>
        </p:spPr>
      </p:sp>
      <p:sp>
        <p:nvSpPr>
          <p:cNvPr id="20" name="Shape 15"/>
          <p:cNvSpPr/>
          <p:nvPr/>
        </p:nvSpPr>
        <p:spPr>
          <a:xfrm>
            <a:off x="6423660" y="4800600"/>
            <a:ext cx="868680" cy="86868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21" name="Image 3" descr="/tmp/claude-0/-home-user-DM-/98b145ee-d85d-5913-a881-95f99ca0c0f7/scratchpad/josei-pptx/icons/charg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143" y="500908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480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停電・災害時の不安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52360" y="49834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停電時の事業継続（BCP）に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備える自家発電・蓄電のニーズ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省エネ設備導入コンサルティング　資料請求資料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省エネ設備導入コンサルティングとは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「創る」「ためる」「減らす」の3つのアプローチで、電力会社から購入する電気そのものを減らし、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電気代の実質負担を圧縮します。現地調査からシミュレーション、施工、アフターフォローまで一貫対応。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1B4D3E"/>
          </a:solidFill>
          <a:ln/>
        </p:spPr>
      </p:sp>
      <p:sp>
        <p:nvSpPr>
          <p:cNvPr id="5" name="Shape 3"/>
          <p:cNvSpPr/>
          <p:nvPr/>
        </p:nvSpPr>
        <p:spPr>
          <a:xfrm>
            <a:off x="1851660" y="256032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tmp/claude-0/-home-user-DM-/98b145ee-d85d-5913-a881-95f99ca0c0f7/scratchpad/josei-pptx/icons/solar_1B4D3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5007" y="2823667"/>
            <a:ext cx="570586" cy="57058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97380" y="379476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8" name="Text 5"/>
          <p:cNvSpPr/>
          <p:nvPr/>
        </p:nvSpPr>
        <p:spPr>
          <a:xfrm>
            <a:off x="1897380" y="3794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創る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4251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太陽光パネル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4663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自社の屋根・敷地で発電し、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購入する電気そのものを減らす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434840" y="228600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12362B"/>
          </a:solidFill>
          <a:ln/>
        </p:spPr>
      </p:sp>
      <p:sp>
        <p:nvSpPr>
          <p:cNvPr id="12" name="Shape 9"/>
          <p:cNvSpPr/>
          <p:nvPr/>
        </p:nvSpPr>
        <p:spPr>
          <a:xfrm>
            <a:off x="5646420" y="256032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tmp/claude-0/-home-user-DM-/98b145ee-d85d-5913-a881-95f99ca0c0f7/scratchpad/josei-pptx/icons/battery_12362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767" y="2823667"/>
            <a:ext cx="570586" cy="57058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92140" y="379476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5" name="Text 11"/>
          <p:cNvSpPr/>
          <p:nvPr/>
        </p:nvSpPr>
        <p:spPr>
          <a:xfrm>
            <a:off x="5692140" y="3794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ためる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617720" y="4251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蓄電池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63440" y="4663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発電した電気を蓄え、夜間や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悪天候時にも自家消費する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229600" y="228600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1B4D3E"/>
          </a:solidFill>
          <a:ln/>
        </p:spPr>
      </p:sp>
      <p:sp>
        <p:nvSpPr>
          <p:cNvPr id="19" name="Shape 15"/>
          <p:cNvSpPr/>
          <p:nvPr/>
        </p:nvSpPr>
        <p:spPr>
          <a:xfrm>
            <a:off x="9441180" y="256032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/tmp/claude-0/-home-user-DM-/98b145ee-d85d-5913-a881-95f99ca0c0f7/scratchpad/josei-pptx/icons/bulb_1B4D3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4527" y="2823667"/>
            <a:ext cx="570586" cy="57058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486900" y="379476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22" name="Text 17"/>
          <p:cNvSpPr/>
          <p:nvPr/>
        </p:nvSpPr>
        <p:spPr>
          <a:xfrm>
            <a:off x="9486900" y="3794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減らす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412480" y="4251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LED・省エネエアコン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458200" y="4663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消費電力の大きい照明・空調を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効率化し、使用量自体を減らす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省エネ設備導入コンサルティング　資料請求資料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電気代が下がる仕組み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発電した電気を「自家消費」し、消費量そのものも減らすことで、購入する電気を最小化します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1B4D3E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212598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tmp/claude-0/-home-user-DM-/98b145ee-d85d-5913-a881-95f99ca0c0f7/scratchpad/josei-pptx/icons/solar_1B4D3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3469" y="235640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太陽光で</a:t>
            </a:r>
            <a:endParaRPr lang="en-US" sz="13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発電する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 rot="5400000">
            <a:off x="3232404" y="2843784"/>
            <a:ext cx="256032" cy="256032"/>
          </a:xfrm>
          <a:prstGeom prst="triangle">
            <a:avLst/>
          </a:prstGeom>
          <a:solidFill>
            <a:srgbClr val="F2A93B"/>
          </a:solidFill>
          <a:ln/>
        </p:spPr>
      </p:sp>
      <p:sp>
        <p:nvSpPr>
          <p:cNvPr id="10" name="Shape 7"/>
          <p:cNvSpPr/>
          <p:nvPr/>
        </p:nvSpPr>
        <p:spPr>
          <a:xfrm>
            <a:off x="3611880" y="192024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236B54"/>
          </a:solidFill>
          <a:ln/>
        </p:spPr>
      </p:sp>
      <p:sp>
        <p:nvSpPr>
          <p:cNvPr id="11" name="Shape 8"/>
          <p:cNvSpPr/>
          <p:nvPr/>
        </p:nvSpPr>
        <p:spPr>
          <a:xfrm>
            <a:off x="4297680" y="212598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tmp/claude-0/-home-user-DM-/98b145ee-d85d-5913-a881-95f99ca0c0f7/scratchpad/josei-pptx/icons/battery_1B4D3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109" y="2356409"/>
            <a:ext cx="499262" cy="4992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703320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蓄電池に</a:t>
            </a:r>
            <a:endParaRPr lang="en-US" sz="13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ためる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 rot="5400000">
            <a:off x="6067044" y="2843784"/>
            <a:ext cx="256032" cy="256032"/>
          </a:xfrm>
          <a:prstGeom prst="triangle">
            <a:avLst/>
          </a:prstGeom>
          <a:solidFill>
            <a:srgbClr val="F2A93B"/>
          </a:solidFill>
          <a:ln/>
        </p:spPr>
      </p:sp>
      <p:sp>
        <p:nvSpPr>
          <p:cNvPr id="16" name="Shape 12"/>
          <p:cNvSpPr/>
          <p:nvPr/>
        </p:nvSpPr>
        <p:spPr>
          <a:xfrm>
            <a:off x="6446520" y="192024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1B4D3E"/>
          </a:solidFill>
          <a:ln/>
        </p:spPr>
      </p:sp>
      <p:sp>
        <p:nvSpPr>
          <p:cNvPr id="17" name="Shape 13"/>
          <p:cNvSpPr/>
          <p:nvPr/>
        </p:nvSpPr>
        <p:spPr>
          <a:xfrm>
            <a:off x="7132320" y="212598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tmp/claude-0/-home-user-DM-/98b145ee-d85d-5913-a881-95f99ca0c0f7/scratchpad/josei-pptx/icons/home_1B4D3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749" y="2356409"/>
            <a:ext cx="499262" cy="4992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83680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537960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施設内で</a:t>
            </a:r>
            <a:endParaRPr lang="en-US" sz="13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自家消費する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 rot="5400000">
            <a:off x="8901684" y="2843784"/>
            <a:ext cx="256032" cy="256032"/>
          </a:xfrm>
          <a:prstGeom prst="triangle">
            <a:avLst/>
          </a:prstGeom>
          <a:solidFill>
            <a:srgbClr val="F2A93B"/>
          </a:solidFill>
          <a:ln/>
        </p:spPr>
      </p:sp>
      <p:sp>
        <p:nvSpPr>
          <p:cNvPr id="22" name="Shape 17"/>
          <p:cNvSpPr/>
          <p:nvPr/>
        </p:nvSpPr>
        <p:spPr>
          <a:xfrm>
            <a:off x="9281160" y="192024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236B54"/>
          </a:solidFill>
          <a:ln/>
        </p:spPr>
      </p:sp>
      <p:sp>
        <p:nvSpPr>
          <p:cNvPr id="23" name="Shape 18"/>
          <p:cNvSpPr/>
          <p:nvPr/>
        </p:nvSpPr>
        <p:spPr>
          <a:xfrm>
            <a:off x="9966960" y="212598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/tmp/claude-0/-home-user-DM-/98b145ee-d85d-5913-a881-95f99ca0c0f7/scratchpad/josei-pptx/icons/bulb_1B4D3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7389" y="2356409"/>
            <a:ext cx="499262" cy="49926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18320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372600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LED・省エネ機器で</a:t>
            </a:r>
            <a:endParaRPr lang="en-US" sz="13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使用量を減らす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777240" y="4434840"/>
            <a:ext cx="10424160" cy="1371600"/>
          </a:xfrm>
          <a:prstGeom prst="roundRect">
            <a:avLst>
              <a:gd name="adj" fmla="val 5333"/>
            </a:avLst>
          </a:prstGeom>
          <a:solidFill>
            <a:srgbClr val="F2F7F4"/>
          </a:solidFill>
          <a:ln/>
        </p:spPr>
      </p:sp>
      <p:sp>
        <p:nvSpPr>
          <p:cNvPr id="28" name="Shape 22"/>
          <p:cNvSpPr/>
          <p:nvPr/>
        </p:nvSpPr>
        <p:spPr>
          <a:xfrm>
            <a:off x="1051560" y="466344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9" name="Image 4" descr="/tmp/claude-0/-home-user-DM-/98b145ee-d85d-5913-a881-95f99ca0c0f7/scratchpad/josei-pptx/icons/plug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016" y="4882896"/>
            <a:ext cx="475488" cy="4754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2194560" y="443484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結果として、電力会社から「買う」電気の量そのものが減り、電気代の実質負担が下がります。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省エネ設備導入コンサルティング　資料請求資料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導入設備と削減効果の目安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881360" cy="3566160"/>
        </p:xfrm>
        <a:graphic>
          <a:graphicData uri="http://schemas.openxmlformats.org/drawingml/2006/table">
            <a:tbl>
              <a:tblPr/>
              <a:tblGrid>
                <a:gridCol w="2560320"/>
                <a:gridCol w="5943600"/>
                <a:gridCol w="237744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主な効果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削減効果の目安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LED照明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照明の消費電力を大幅に削減。発熱が少なく空調負荷も軽減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照明分で 40〜80%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省エネエアコン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高効率モデルへの更新で空調にかかるエネルギーを削減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旧型比で大幅省エネ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太陽光パネル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自社で発電した電気を自家消費し、購入電力量を削減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自家消費率 50%以上も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蓄電池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発電した電気を蓄え、夜間・悪天候時も自家消費。ピークカットにも寄与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自家消費率をさらに向上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※削減率は一般的な公開データに基づく目安です。実際の効果は建物の状況・使用状況・機器仕様により異なります。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省エネ設備導入コンサルティング　資料請求資料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電気代 30〜50%削減の実績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自社の施工実績に基づく削減イメージ（下記は構成イメージです。実際の実績データに差し替えてご使用ください）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9202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2F7F4"/>
          </a:solidFill>
          <a:ln/>
        </p:spPr>
      </p:sp>
      <p:sp>
        <p:nvSpPr>
          <p:cNvPr id="6" name="Text 3"/>
          <p:cNvSpPr/>
          <p:nvPr/>
        </p:nvSpPr>
        <p:spPr>
          <a:xfrm>
            <a:off x="8138160" y="20574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601200" y="21031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削減の目安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（LED・空調中心）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909560" y="361188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2F7F4"/>
          </a:solidFill>
          <a:ln/>
        </p:spPr>
      </p:sp>
      <p:sp>
        <p:nvSpPr>
          <p:cNvPr id="9" name="Text 6"/>
          <p:cNvSpPr/>
          <p:nvPr/>
        </p:nvSpPr>
        <p:spPr>
          <a:xfrm>
            <a:off x="8138160" y="37490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9601200" y="37947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削減の目安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（太陽光＋蓄電池併用）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※削減率は自社の施工実績データに基づきますが、建物条件・使用状況により個社差があります。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省エネ設備導入コンサルティング　資料請求資料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選ばれる理由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F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〔御社の強み・実績に応じて編集してください〕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12362B"/>
          </a:solidFill>
          <a:ln/>
        </p:spPr>
      </p:sp>
      <p:sp>
        <p:nvSpPr>
          <p:cNvPr id="5" name="Shape 3"/>
          <p:cNvSpPr/>
          <p:nvPr/>
        </p:nvSpPr>
        <p:spPr>
          <a:xfrm>
            <a:off x="982980" y="2331720"/>
            <a:ext cx="868680" cy="8686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/tmp/claude-0/-home-user-DM-/98b145ee-d85d-5913-a881-95f99ca0c0f7/scratchpad/josei-pptx/icons/tools_1B4D3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463" y="254020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011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設計から施工まで自社一貫対応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011680" y="25146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現地調査・設計・施工・アフターまで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下請けに頼らずワンストップで対応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12362B"/>
          </a:solidFill>
          <a:ln/>
        </p:spPr>
      </p:sp>
      <p:sp>
        <p:nvSpPr>
          <p:cNvPr id="10" name="Shape 7"/>
          <p:cNvSpPr/>
          <p:nvPr/>
        </p:nvSpPr>
        <p:spPr>
          <a:xfrm>
            <a:off x="6423660" y="2331720"/>
            <a:ext cx="868680" cy="8686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/tmp/claude-0/-home-user-DM-/98b145ee-d85d-5913-a881-95f99ca0c0f7/scratchpad/josei-pptx/icons/chart_1B4D3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143" y="254020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11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豊富な施工実績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452360" y="25146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業種・建物規模を問わず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多数の削減実績を保有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12362B"/>
          </a:solidFill>
          <a:ln/>
        </p:spPr>
      </p:sp>
      <p:sp>
        <p:nvSpPr>
          <p:cNvPr id="15" name="Shape 11"/>
          <p:cNvSpPr/>
          <p:nvPr/>
        </p:nvSpPr>
        <p:spPr>
          <a:xfrm>
            <a:off x="982980" y="4800600"/>
            <a:ext cx="868680" cy="8686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/tmp/claude-0/-home-user-DM-/98b145ee-d85d-5913-a881-95f99ca0c0f7/scratchpad/josei-pptx/icons/filesign_1B4D3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63" y="500908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480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補助金申請サポート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2011680" y="49834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太陽光・蓄電池関連の補助金申請を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専門スタッフがサポート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80760" y="416052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12362B"/>
          </a:solidFill>
          <a:ln/>
        </p:spPr>
      </p:sp>
      <p:sp>
        <p:nvSpPr>
          <p:cNvPr id="20" name="Shape 15"/>
          <p:cNvSpPr/>
          <p:nvPr/>
        </p:nvSpPr>
        <p:spPr>
          <a:xfrm>
            <a:off x="6423660" y="4800600"/>
            <a:ext cx="868680" cy="8686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/tmp/claude-0/-home-user-DM-/98b145ee-d85d-5913-a881-95f99ca0c0f7/scratchpad/josei-pptx/icons/shield_1B4D3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143" y="500908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480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導入後のアフターメンテナンス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452360" y="49834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定期点検・保証対応で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長期的な稼働を支える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省エネ設備導入コンサルティング　資料請求資料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施工事例（イメージ）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※以下は構成イメージです。実際の施工実績・数値に差し替えてご使用ください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2F7F4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1B4D3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〔業種を記入〕製造業（工場）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照明・空調の電気代が負担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導入設備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LED＋省エネエアコン＋太陽光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4297680"/>
            <a:ext cx="2971800" cy="0"/>
          </a:xfrm>
          <a:prstGeom prst="line">
            <a:avLst/>
          </a:prstGeom>
          <a:noFill/>
          <a:ln w="12700">
            <a:solidFill>
              <a:srgbClr val="CFE2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434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電気代</a:t>
            </a:r>
            <a:endParaRPr lang="en-US" sz="20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〔◯〕%削減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434840" y="16916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2F7F4"/>
          </a:solidFill>
          <a:ln/>
        </p:spPr>
      </p:sp>
      <p:sp>
        <p:nvSpPr>
          <p:cNvPr id="14" name="Shape 12"/>
          <p:cNvSpPr/>
          <p:nvPr/>
        </p:nvSpPr>
        <p:spPr>
          <a:xfrm>
            <a:off x="4709160" y="196596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1B4D3E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965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〔業種を記入〕物流・倉庫業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651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24時間稼働で電気代が高額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3429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導入設備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3703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太陽光＋蓄電池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4297680"/>
            <a:ext cx="2971800" cy="0"/>
          </a:xfrm>
          <a:prstGeom prst="line">
            <a:avLst/>
          </a:prstGeom>
          <a:noFill/>
          <a:ln w="12700">
            <a:solidFill>
              <a:srgbClr val="CFE2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4434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電気代</a:t>
            </a:r>
            <a:endParaRPr lang="en-US" sz="20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〔◯〕%削減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229600" y="16916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2F7F4"/>
          </a:solidFill>
          <a:ln/>
        </p:spPr>
      </p:sp>
      <p:sp>
        <p:nvSpPr>
          <p:cNvPr id="23" name="Shape 21"/>
          <p:cNvSpPr/>
          <p:nvPr/>
        </p:nvSpPr>
        <p:spPr>
          <a:xfrm>
            <a:off x="8503920" y="196596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1B4D3E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1965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〔業種を記入〕小売・店舗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0" y="2651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空調・照明費と停電リスク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3429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導入設備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3703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LED＋蓄電池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03920" y="4297680"/>
            <a:ext cx="2971800" cy="0"/>
          </a:xfrm>
          <a:prstGeom prst="line">
            <a:avLst/>
          </a:prstGeom>
          <a:noFill/>
          <a:ln w="12700">
            <a:solidFill>
              <a:srgbClr val="CFE2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4434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電気代</a:t>
            </a:r>
            <a:endParaRPr lang="en-US" sz="20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〔◯〕%削減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省エネ設備導入コンサルティング　資料請求資料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導入の流れ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現地調査からアフターフォローまで、専任スタッフが一貫してサポートします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37260" y="2057400"/>
            <a:ext cx="1280160" cy="128016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5" name="Image 0" descr="/tmp/claude-0/-home-user-DM-/98b145ee-d85d-5913-a881-95f99ca0c0f7/scratchpad/josei-pptx/icons/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498" y="2364638"/>
            <a:ext cx="665683" cy="6656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2980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3566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現地調査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電気使用状況・建物条件を確認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 rot="5400000">
            <a:off x="2542032" y="2596896"/>
            <a:ext cx="201168" cy="201168"/>
          </a:xfrm>
          <a:prstGeom prst="triangle">
            <a:avLst/>
          </a:prstGeom>
          <a:solidFill>
            <a:srgbClr val="F2A93B"/>
          </a:solidFill>
          <a:ln/>
        </p:spPr>
      </p:sp>
      <p:sp>
        <p:nvSpPr>
          <p:cNvPr id="10" name="Shape 7"/>
          <p:cNvSpPr/>
          <p:nvPr/>
        </p:nvSpPr>
        <p:spPr>
          <a:xfrm>
            <a:off x="3067812" y="2057400"/>
            <a:ext cx="1280160" cy="128016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11" name="Image 1" descr="/tmp/claude-0/-home-user-DM-/98b145ee-d85d-5913-a881-95f99ca0c0f7/scratchpad/josei-pptx/icons/ch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050" y="2364638"/>
            <a:ext cx="665683" cy="6656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13532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770632" y="3566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シミュレーション提案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633472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削減効果・投資回収を試算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 rot="5400000">
            <a:off x="4672584" y="2596896"/>
            <a:ext cx="201168" cy="201168"/>
          </a:xfrm>
          <a:prstGeom prst="triangle">
            <a:avLst/>
          </a:prstGeom>
          <a:solidFill>
            <a:srgbClr val="F2A93B"/>
          </a:solidFill>
          <a:ln/>
        </p:spPr>
      </p:sp>
      <p:sp>
        <p:nvSpPr>
          <p:cNvPr id="16" name="Shape 12"/>
          <p:cNvSpPr/>
          <p:nvPr/>
        </p:nvSpPr>
        <p:spPr>
          <a:xfrm>
            <a:off x="5198364" y="2057400"/>
            <a:ext cx="1280160" cy="128016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17" name="Image 2" descr="/tmp/claude-0/-home-user-DM-/98b145ee-d85d-5913-a881-95f99ca0c0f7/scratchpad/josei-pptx/icons/filesig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602" y="2364638"/>
            <a:ext cx="665683" cy="66568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44084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901184" y="3566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契約・補助金申請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764024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補助金活用の可否を確認・申請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 rot="5400000">
            <a:off x="6803136" y="2596896"/>
            <a:ext cx="201168" cy="201168"/>
          </a:xfrm>
          <a:prstGeom prst="triangle">
            <a:avLst/>
          </a:prstGeom>
          <a:solidFill>
            <a:srgbClr val="F2A93B"/>
          </a:solidFill>
          <a:ln/>
        </p:spPr>
      </p:sp>
      <p:sp>
        <p:nvSpPr>
          <p:cNvPr id="22" name="Shape 17"/>
          <p:cNvSpPr/>
          <p:nvPr/>
        </p:nvSpPr>
        <p:spPr>
          <a:xfrm>
            <a:off x="7328916" y="2057400"/>
            <a:ext cx="1280160" cy="128016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23" name="Image 3" descr="/tmp/claude-0/-home-user-DM-/98b145ee-d85d-5913-a881-95f99ca0c0f7/scratchpad/josei-pptx/icons/tool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6154" y="2364638"/>
            <a:ext cx="665683" cy="66568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74636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031736" y="3566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施工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894576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自社スタッフが設置工事を実施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 rot="5400000">
            <a:off x="8933688" y="2596896"/>
            <a:ext cx="201168" cy="201168"/>
          </a:xfrm>
          <a:prstGeom prst="triangle">
            <a:avLst/>
          </a:prstGeom>
          <a:solidFill>
            <a:srgbClr val="F2A93B"/>
          </a:solidFill>
          <a:ln/>
        </p:spPr>
      </p:sp>
      <p:sp>
        <p:nvSpPr>
          <p:cNvPr id="28" name="Shape 22"/>
          <p:cNvSpPr/>
          <p:nvPr/>
        </p:nvSpPr>
        <p:spPr>
          <a:xfrm>
            <a:off x="9459468" y="2057400"/>
            <a:ext cx="1280160" cy="12801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9" name="Image 4" descr="/tmp/claude-0/-home-user-DM-/98b145ee-d85d-5913-a881-95f99ca0c0f7/scratchpad/josei-pptx/icons/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6706" y="2364638"/>
            <a:ext cx="665683" cy="66568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505188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9162288" y="3566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アフターフォロー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9025128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定期点検・稼働状況のモニタリング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40080" y="52120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2F7F4"/>
          </a:solidFill>
          <a:ln/>
        </p:spPr>
      </p:sp>
      <p:sp>
        <p:nvSpPr>
          <p:cNvPr id="34" name="Text 27"/>
          <p:cNvSpPr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現地調査・お見積りは無料です。まずはお気軽にご相談ください。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省エネ設備導入コンサルティング　資料請求資料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補助金・優遇制度の活用支援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太陽光・蓄電池・省エネ設備は、国や自治体の補助金・優遇制度の対象になる場合があります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3566160"/>
        </p:xfrm>
        <a:graphic>
          <a:graphicData uri="http://schemas.openxmlformats.org/drawingml/2006/table">
            <a:tbl>
              <a:tblPr/>
              <a:tblGrid>
                <a:gridCol w="4206240"/>
                <a:gridCol w="3291840"/>
                <a:gridCol w="338328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制度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対象設備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内容の目安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国の太陽光・蓄電池関連補助金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太陽光パネル・産業用蓄電池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設備費の一部を補助（年度により変動）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省エネ関連の補助金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LED・省エネエアコン等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更新費用の一部を補助する制度あり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自治体独自の補助制度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太陽光・蓄電池・省エネ設備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自治体により対象・金額が異なる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税制優遇（中小企業経営強化税制 等）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生産性向上に資する設備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即時償却・税額控除の選択が可能な場合あり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※制度は年度・自治体により新設・終了・要件変更があります。最新情報は現地調査時にご案内します。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省エネ設備導入コンサルティング　資料請求資料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料金プラン（例）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※金額・プラン内容は御社のサービス内容に合わせて差し替えてください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2926080"/>
        </p:xfrm>
        <a:graphic>
          <a:graphicData uri="http://schemas.openxmlformats.org/drawingml/2006/table">
            <a:tbl>
              <a:tblPr/>
              <a:tblGrid>
                <a:gridCol w="3291840"/>
                <a:gridCol w="5120640"/>
                <a:gridCol w="246888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料金の目安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現地調査・シミュレーション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電気使用状況の分析、削減効果の試算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LED・省エネエアコン導入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既存設備からの更新工事一式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〔◯〕万円〜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太陽光パネル＋蓄電池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設計・設置・系統連系工事一式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〔◯〕万円〜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初期費用0円プラン 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月額利用料での導入プラン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〔月額料金を記入〕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補助金活用時の実質負担額など、詳細な条件は個別にご説明いたします。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省エネ設備導入コンサルティング　資料請求資料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よくあるご質問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B4D3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3716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本当に30〜50%も削減できますか？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325880" y="18288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自社の施工実績に基づく削減率です。建物条件・使用状況により効果は異なるため、現地調査で個別に試算します。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B4D3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5146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初期費用はどのくらいかかりますか？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25880" y="29718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設備・規模により異なります。補助金活用や初期費用0円プランなどもご案内可能です。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B4D3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6576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停電時にも電気は使えますか？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25880" y="41148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蓄電池を併設することで、停電時にも自家消費している電気を使用できます。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8006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B4D3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48006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導入後のメンテナンスは必要ですか？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25880" y="52578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定期点検・保証プランをご用意しており、長期的に安心してご利用いただけます。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省エネ設備導入コンサルティング　資料請求資料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会社概要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411480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〔貴社名を記入〕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所在地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〔本社所在地を記入〕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〔設立年月を記入〕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事業内容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省エネ設備（LED・省エネエアコン・太陽光・蓄電池）の設計・施工・保守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施工実績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〔施工件数・累計削減実績 等を記入〕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保有資格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〔電気工事士 等の有資格者数を記入〕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省エネ設備導入コンサルティング　資料請求資料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まずは無料の現地調査から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貴社の電気使用状況を確認し、どのくらい電気代を削減できるか。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専門スタッフが無料で診断・シミュレーションいたします。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6035040" cy="777240"/>
          </a:xfrm>
          <a:prstGeom prst="roundRect">
            <a:avLst>
              <a:gd name="adj" fmla="val 11765"/>
            </a:avLst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83464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無料の現地調査・お問い合わせはこちら　＞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F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TEL：〔電話番号を記入〕　／　Mail：〔メールアドレスを記入〕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F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URL：〔資料請求フォームURLを記入〕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0" y="2834640"/>
            <a:ext cx="21031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0" y="28346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QRコード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（フォームへ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リンク）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※記載の削減率・制度内容は変更される場合があります。最新の情報は現地調査時にご確認ください。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2026-08-23T23:28:38Z</dcterms:created>
  <dcterms:modified xsi:type="dcterms:W3CDTF">2026-08-23T23:28:38Z</dcterms:modified>
</cp:coreProperties>
</file>