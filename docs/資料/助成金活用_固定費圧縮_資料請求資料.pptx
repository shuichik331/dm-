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圧縮前（対象経費）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427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人件費関連</c:v>
                  </c:pt>
                  <c:pt idx="1">
                    <c:v>設備投資関連</c:v>
                  </c:pt>
                  <c:pt idx="2">
                    <c:v>広告販促関連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300</c:v>
                </c:pt>
                <c:pt idx="1">
                  <c:v>400</c:v>
                </c:pt>
                <c:pt idx="2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圧縮後（助成金活用後の実質負担）</c:v>
                </c:pt>
              </c:strCache>
            </c:strRef>
          </c:tx>
          <c:spPr>
            <a:solidFill>
              <a:srgbClr val="D4A7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427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人件費関連</c:v>
                  </c:pt>
                  <c:pt idx="1">
                    <c:v>設備投資関連</c:v>
                  </c:pt>
                  <c:pt idx="2">
                    <c:v>広告販促関連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210</c:v>
                </c:pt>
                <c:pt idx="1">
                  <c:v>200</c:v>
                </c:pt>
                <c:pt idx="2">
                  <c:v>33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427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427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AEEF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万円（試算）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4272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DOCUMENT REQUEST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8686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知らないと損をする、</a:t>
            </a:r>
            <a:endParaRPr lang="en-US" sz="40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固定費圧縮の新常識。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4290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助成金・補助金を活用し、経営の圧迫要因となっている固定費の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実質負担を圧縮するための実践ガイド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4480560"/>
            <a:ext cx="6035040" cy="1554480"/>
          </a:xfrm>
          <a:prstGeom prst="roundRect">
            <a:avLst>
              <a:gd name="adj" fmla="val 5882"/>
            </a:avLst>
          </a:prstGeom>
          <a:solidFill>
            <a:srgbClr val="16204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4617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対象経費のうち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489204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D4A7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30</a:t>
            </a:r>
            <a:pPr algn="l" indent="0" marL="0">
              <a:buNone/>
            </a:pPr>
            <a:r>
              <a:rPr lang="en-US" sz="2400" b="1" dirty="0">
                <a:solidFill>
                  <a:srgbClr val="D4A7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〜</a:t>
            </a:r>
            <a:pPr algn="l" indent="0" marL="0">
              <a:buNone/>
            </a:pPr>
            <a:r>
              <a:rPr lang="en-US" sz="4600" b="1" dirty="0">
                <a:solidFill>
                  <a:srgbClr val="D4A7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50</a:t>
            </a:r>
            <a:pPr algn="l" indent="0" marL="0">
              <a:buNone/>
            </a:pPr>
            <a:r>
              <a:rPr lang="en-US" sz="2800" b="1" dirty="0">
                <a:solidFill>
                  <a:srgbClr val="D4A7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%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914400" y="5715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F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複数の助成金・補助金制度を組み合わせた場合の圧縮イメージ（試算例）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008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発行：〔貴社名を記入〕　／　〔発行年月を記入〕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052560" y="0"/>
            <a:ext cx="3136392" cy="6858000"/>
          </a:xfrm>
          <a:prstGeom prst="rect">
            <a:avLst/>
          </a:prstGeom>
          <a:solidFill>
            <a:srgbClr val="16204F"/>
          </a:solidFill>
          <a:ln/>
        </p:spPr>
      </p:sp>
      <p:sp>
        <p:nvSpPr>
          <p:cNvPr id="11" name="Shape 9"/>
          <p:cNvSpPr/>
          <p:nvPr/>
        </p:nvSpPr>
        <p:spPr>
          <a:xfrm>
            <a:off x="9829800" y="1417320"/>
            <a:ext cx="1554480" cy="1554480"/>
          </a:xfrm>
          <a:prstGeom prst="ellipse">
            <a:avLst/>
          </a:prstGeom>
          <a:solidFill>
            <a:srgbClr val="233070"/>
          </a:solidFill>
          <a:ln/>
        </p:spPr>
      </p:sp>
      <p:pic>
        <p:nvPicPr>
          <p:cNvPr id="12" name="Image 0" descr="/tmp/claude-0/-home-user-DM-/98b145ee-d85d-5913-a881-95f99ca0c0f7/scratchpad/josei-pptx/icons/coins_D4A73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2875" y="1790395"/>
            <a:ext cx="808330" cy="80833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532620" y="3680460"/>
            <a:ext cx="1051560" cy="1051560"/>
          </a:xfrm>
          <a:prstGeom prst="ellipse">
            <a:avLst/>
          </a:prstGeom>
          <a:solidFill>
            <a:srgbClr val="2A3878"/>
          </a:solidFill>
          <a:ln/>
        </p:spPr>
      </p:sp>
      <p:pic>
        <p:nvPicPr>
          <p:cNvPr id="14" name="Image 1" descr="/tmp/claude-0/-home-user-DM-/98b145ee-d85d-5913-a881-95f99ca0c0f7/scratchpad/josei-pptx/icons/yen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994" y="3932834"/>
            <a:ext cx="546811" cy="546811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10629900" y="4594860"/>
            <a:ext cx="1051560" cy="1051560"/>
          </a:xfrm>
          <a:prstGeom prst="ellipse">
            <a:avLst/>
          </a:prstGeom>
          <a:solidFill>
            <a:srgbClr val="2A3878"/>
          </a:solidFill>
          <a:ln/>
        </p:spPr>
      </p:sp>
      <p:pic>
        <p:nvPicPr>
          <p:cNvPr id="16" name="Image 2" descr="/tmp/claude-0/-home-user-DM-/98b145ee-d85d-5913-a881-95f99ca0c0f7/scratchpad/josei-pptx/icons/chart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2274" y="4847234"/>
            <a:ext cx="546811" cy="5468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こんなお悩み、ありませんか？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物価高・最低賃金の上昇・人手不足を背景に、固定費の重さを実感する経営者が増えています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074920" cy="2148840"/>
          </a:xfrm>
          <a:prstGeom prst="roundRect">
            <a:avLst>
              <a:gd name="adj" fmla="val 3404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982980" y="2331720"/>
            <a:ext cx="868680" cy="8686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tmp/claude-0/-home-user-DM-/98b145ee-d85d-5913-a881-95f99ca0c0f7/scratchpad/josei-pptx/icons/user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1463" y="2540203"/>
            <a:ext cx="451714" cy="4517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11680" y="20116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人件費・賃上げの負担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011680" y="251460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最低賃金の引き上げや採用競争で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人件費が年々増加している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080760" y="1691640"/>
            <a:ext cx="5074920" cy="2148840"/>
          </a:xfrm>
          <a:prstGeom prst="roundRect">
            <a:avLst>
              <a:gd name="adj" fmla="val 3404"/>
            </a:avLst>
          </a:prstGeom>
          <a:solidFill>
            <a:srgbClr val="F4F6FB"/>
          </a:solidFill>
          <a:ln/>
        </p:spPr>
      </p:sp>
      <p:sp>
        <p:nvSpPr>
          <p:cNvPr id="10" name="Shape 7"/>
          <p:cNvSpPr/>
          <p:nvPr/>
        </p:nvSpPr>
        <p:spPr>
          <a:xfrm>
            <a:off x="6423660" y="2331720"/>
            <a:ext cx="868680" cy="8686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tmp/claude-0/-home-user-DM-/98b145ee-d85d-5913-a881-95f99ca0c0f7/scratchpad/josei-pptx/icons/bol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2143" y="2540203"/>
            <a:ext cx="451714" cy="4517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20116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家賃・光熱費の高騰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452360" y="251460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オフィス・店舗・工場の固定費が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物価高で膨らみ続けている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4160520"/>
            <a:ext cx="5074920" cy="2148840"/>
          </a:xfrm>
          <a:prstGeom prst="roundRect">
            <a:avLst>
              <a:gd name="adj" fmla="val 3404"/>
            </a:avLst>
          </a:prstGeom>
          <a:solidFill>
            <a:srgbClr val="F4F6FB"/>
          </a:solidFill>
          <a:ln/>
        </p:spPr>
      </p:sp>
      <p:sp>
        <p:nvSpPr>
          <p:cNvPr id="15" name="Shape 11"/>
          <p:cNvSpPr/>
          <p:nvPr/>
        </p:nvSpPr>
        <p:spPr>
          <a:xfrm>
            <a:off x="982980" y="4800600"/>
            <a:ext cx="868680" cy="8686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tmp/claude-0/-home-user-DM-/98b145ee-d85d-5913-a881-95f99ca0c0f7/scratchpad/josei-pptx/icons/tools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463" y="5009083"/>
            <a:ext cx="451714" cy="45171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011680" y="44805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設備更新・IT投資の費用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2011680" y="498348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老朽化した設備やシステムの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更新費用を捻出できない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080760" y="4160520"/>
            <a:ext cx="5074920" cy="2148840"/>
          </a:xfrm>
          <a:prstGeom prst="roundRect">
            <a:avLst>
              <a:gd name="adj" fmla="val 3404"/>
            </a:avLst>
          </a:prstGeom>
          <a:solidFill>
            <a:srgbClr val="F4F6FB"/>
          </a:solidFill>
          <a:ln/>
        </p:spPr>
      </p:sp>
      <p:sp>
        <p:nvSpPr>
          <p:cNvPr id="20" name="Shape 15"/>
          <p:cNvSpPr/>
          <p:nvPr/>
        </p:nvSpPr>
        <p:spPr>
          <a:xfrm>
            <a:off x="6423660" y="4800600"/>
            <a:ext cx="868680" cy="8686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tmp/claude-0/-home-user-DM-/98b145ee-d85d-5913-a881-95f99ca0c0f7/scratchpad/josei-pptx/icons/coins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2143" y="5009083"/>
            <a:ext cx="451714" cy="45171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52360" y="44805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慢性的な資金繰りの圧迫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452360" y="498348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固定費の支払いが先行し、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手元資金にゆとりが持てない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助成金・補助金活用コンサルティング　資料請求資料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助成金・補助金活用コンサルティングとは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貴社の事業内容・経費構造を診断し、国や自治体が用意する助成金・補助金制度の中から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対象となりうる制度を選定。申請書類の作成から提出・受給後の対応までを伴走支援します。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対象経費を助成金・補助金でカバーすることで、実質的な固定費負担の圧縮を目指します。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77240" y="2926080"/>
            <a:ext cx="2331720" cy="2103120"/>
          </a:xfrm>
          <a:prstGeom prst="roundRect">
            <a:avLst>
              <a:gd name="adj" fmla="val 3478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463040" y="3131820"/>
            <a:ext cx="960120" cy="9601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tmp/claude-0/-home-user-DM-/98b145ee-d85d-5913-a881-95f99ca0c0f7/scratchpad/josei-pptx/icons/search_1E27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3469" y="3362249"/>
            <a:ext cx="499262" cy="4992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0175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420624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経費構造の</a:t>
            </a:r>
            <a:endParaRPr lang="en-US" sz="145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診断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 rot="5400000">
            <a:off x="3232404" y="3849624"/>
            <a:ext cx="256032" cy="256032"/>
          </a:xfrm>
          <a:prstGeom prst="triangle">
            <a:avLst/>
          </a:prstGeom>
          <a:solidFill>
            <a:srgbClr val="D4A73D"/>
          </a:solidFill>
          <a:ln/>
        </p:spPr>
      </p:sp>
      <p:sp>
        <p:nvSpPr>
          <p:cNvPr id="10" name="Shape 7"/>
          <p:cNvSpPr/>
          <p:nvPr/>
        </p:nvSpPr>
        <p:spPr>
          <a:xfrm>
            <a:off x="3611880" y="2926080"/>
            <a:ext cx="2331720" cy="2103120"/>
          </a:xfrm>
          <a:prstGeom prst="roundRect">
            <a:avLst>
              <a:gd name="adj" fmla="val 3478"/>
            </a:avLst>
          </a:prstGeom>
          <a:solidFill>
            <a:srgbClr val="2A3878"/>
          </a:solidFill>
          <a:ln/>
        </p:spPr>
      </p:sp>
      <p:sp>
        <p:nvSpPr>
          <p:cNvPr id="11" name="Shape 8"/>
          <p:cNvSpPr/>
          <p:nvPr/>
        </p:nvSpPr>
        <p:spPr>
          <a:xfrm>
            <a:off x="4297680" y="3131820"/>
            <a:ext cx="960120" cy="9601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/tmp/claude-0/-home-user-DM-/98b145ee-d85d-5913-a881-95f99ca0c0f7/scratchpad/josei-pptx/icons/filesign_1E276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8109" y="3362249"/>
            <a:ext cx="499262" cy="49926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49040" y="30175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703320" y="420624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適用制度の</a:t>
            </a:r>
            <a:endParaRPr lang="en-US" sz="145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選定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 rot="5400000">
            <a:off x="6067044" y="3849624"/>
            <a:ext cx="256032" cy="256032"/>
          </a:xfrm>
          <a:prstGeom prst="triangle">
            <a:avLst/>
          </a:prstGeom>
          <a:solidFill>
            <a:srgbClr val="D4A73D"/>
          </a:solidFill>
          <a:ln/>
        </p:spPr>
      </p:sp>
      <p:sp>
        <p:nvSpPr>
          <p:cNvPr id="16" name="Shape 12"/>
          <p:cNvSpPr/>
          <p:nvPr/>
        </p:nvSpPr>
        <p:spPr>
          <a:xfrm>
            <a:off x="6446520" y="2926080"/>
            <a:ext cx="2331720" cy="2103120"/>
          </a:xfrm>
          <a:prstGeom prst="roundRect">
            <a:avLst>
              <a:gd name="adj" fmla="val 3478"/>
            </a:avLst>
          </a:prstGeom>
          <a:solidFill>
            <a:srgbClr val="1E2761"/>
          </a:solidFill>
          <a:ln/>
        </p:spPr>
      </p:sp>
      <p:sp>
        <p:nvSpPr>
          <p:cNvPr id="17" name="Shape 13"/>
          <p:cNvSpPr/>
          <p:nvPr/>
        </p:nvSpPr>
        <p:spPr>
          <a:xfrm>
            <a:off x="7132320" y="3131820"/>
            <a:ext cx="960120" cy="9601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/tmp/claude-0/-home-user-DM-/98b145ee-d85d-5913-a881-95f99ca0c0f7/scratchpad/josei-pptx/icons/clipboard_1E276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2749" y="3362249"/>
            <a:ext cx="499262" cy="49926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583680" y="30175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537960" y="420624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申請書類の</a:t>
            </a:r>
            <a:endParaRPr lang="en-US" sz="145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作成・提出</a:t>
            </a:r>
            <a:endParaRPr lang="en-US" sz="1450" dirty="0"/>
          </a:p>
        </p:txBody>
      </p:sp>
      <p:sp>
        <p:nvSpPr>
          <p:cNvPr id="21" name="Shape 16"/>
          <p:cNvSpPr/>
          <p:nvPr/>
        </p:nvSpPr>
        <p:spPr>
          <a:xfrm rot="5400000">
            <a:off x="8901684" y="3849624"/>
            <a:ext cx="256032" cy="256032"/>
          </a:xfrm>
          <a:prstGeom prst="triangle">
            <a:avLst/>
          </a:prstGeom>
          <a:solidFill>
            <a:srgbClr val="D4A73D"/>
          </a:solidFill>
          <a:ln/>
        </p:spPr>
      </p:sp>
      <p:sp>
        <p:nvSpPr>
          <p:cNvPr id="22" name="Shape 17"/>
          <p:cNvSpPr/>
          <p:nvPr/>
        </p:nvSpPr>
        <p:spPr>
          <a:xfrm>
            <a:off x="9281160" y="2926080"/>
            <a:ext cx="2331720" cy="2103120"/>
          </a:xfrm>
          <a:prstGeom prst="roundRect">
            <a:avLst>
              <a:gd name="adj" fmla="val 3478"/>
            </a:avLst>
          </a:prstGeom>
          <a:solidFill>
            <a:srgbClr val="2A3878"/>
          </a:solidFill>
          <a:ln/>
        </p:spPr>
      </p:sp>
      <p:sp>
        <p:nvSpPr>
          <p:cNvPr id="23" name="Shape 18"/>
          <p:cNvSpPr/>
          <p:nvPr/>
        </p:nvSpPr>
        <p:spPr>
          <a:xfrm>
            <a:off x="9966960" y="3131820"/>
            <a:ext cx="960120" cy="9601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3" descr="/tmp/claude-0/-home-user-DM-/98b145ee-d85d-5913-a881-95f99ca0c0f7/scratchpad/josei-pptx/icons/yen_1E276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7389" y="3362249"/>
            <a:ext cx="499262" cy="49926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418320" y="30175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9372600" y="420624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受給・</a:t>
            </a:r>
            <a:endParaRPr lang="en-US" sz="145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負担軽減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助成金・補助金活用コンサルティング　資料請求資料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固定費の内訳と、対応する主な制度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費目ごとに活用できる代表的な助成金・補助金は異なります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3566160"/>
        </p:xfrm>
        <a:graphic>
          <a:graphicData uri="http://schemas.openxmlformats.org/drawingml/2006/table">
            <a:tbl>
              <a:tblPr/>
              <a:tblGrid>
                <a:gridCol w="4023360"/>
                <a:gridCol w="4480560"/>
                <a:gridCol w="237744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固定費の費目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主な対応制度（例）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補助率の目安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人件費・賃上げ関連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業務改善助成金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最大 9/10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IT・システム導入費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IT導入補助金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1/2 〜 3/4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設備・機械投資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ものづくり補助金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1/2 〜 2/3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販促・広告・Webサイト費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小規模事業者持続化補助金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2/3 が目安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家賃・拠点関連費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自治体独自の家賃助成 等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制度により異なる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4864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※上記は2026年時点の一般的な制度・補助率の一例です。年度・公募回・事業内容により要件や補助率は変動します。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助成金・補助金活用コンサルティング　資料請求資料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複数制度を組み合わせた場合の圧縮イメージ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対象経費に対して助成金・補助金を適用した場合の試算例（数値はイメージです）</a:t>
            </a:r>
            <a:endParaRPr lang="en-US" sz="12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00200"/>
          <a:ext cx="69494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909560" y="1737360"/>
            <a:ext cx="3611880" cy="1143000"/>
          </a:xfrm>
          <a:prstGeom prst="roundRect">
            <a:avLst>
              <a:gd name="adj" fmla="val 6400"/>
            </a:avLst>
          </a:prstGeom>
          <a:solidFill>
            <a:srgbClr val="F4F6FB"/>
          </a:solidFill>
          <a:ln/>
        </p:spPr>
      </p:sp>
      <p:sp>
        <p:nvSpPr>
          <p:cNvPr id="6" name="Text 3"/>
          <p:cNvSpPr/>
          <p:nvPr/>
        </p:nvSpPr>
        <p:spPr>
          <a:xfrm>
            <a:off x="8138160" y="187452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30%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9601200" y="1901952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人件費関連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圧縮イメージ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909560" y="3108960"/>
            <a:ext cx="3611880" cy="1143000"/>
          </a:xfrm>
          <a:prstGeom prst="roundRect">
            <a:avLst>
              <a:gd name="adj" fmla="val 6400"/>
            </a:avLst>
          </a:prstGeom>
          <a:solidFill>
            <a:srgbClr val="F4F6FB"/>
          </a:solidFill>
          <a:ln/>
        </p:spPr>
      </p:sp>
      <p:sp>
        <p:nvSpPr>
          <p:cNvPr id="9" name="Text 6"/>
          <p:cNvSpPr/>
          <p:nvPr/>
        </p:nvSpPr>
        <p:spPr>
          <a:xfrm>
            <a:off x="8138160" y="324612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50%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9601200" y="3273552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設備投資関連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圧縮イメージ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909560" y="4480560"/>
            <a:ext cx="3611880" cy="1143000"/>
          </a:xfrm>
          <a:prstGeom prst="roundRect">
            <a:avLst>
              <a:gd name="adj" fmla="val 6400"/>
            </a:avLst>
          </a:prstGeom>
          <a:solidFill>
            <a:srgbClr val="F4F6FB"/>
          </a:solidFill>
          <a:ln/>
        </p:spPr>
      </p:sp>
      <p:sp>
        <p:nvSpPr>
          <p:cNvPr id="12" name="Text 9"/>
          <p:cNvSpPr/>
          <p:nvPr/>
        </p:nvSpPr>
        <p:spPr>
          <a:xfrm>
            <a:off x="8138160" y="461772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67%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9601200" y="4645152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広告販促関連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圧縮イメージ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40080" y="58978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※本試算は制度を組み合わせた場合のイメージであり、効果を保証するものではありません。実際の補助率・採択可否は事業内容・審査結果により異なります。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助成金・補助金活用コンサルティング　資料請求資料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対応可能な代表的助成金・補助金（一例）</a:t>
            </a:r>
            <a:endParaRPr lang="en-US" sz="2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10881360" cy="4206240"/>
        </p:xfrm>
        <a:graphic>
          <a:graphicData uri="http://schemas.openxmlformats.org/drawingml/2006/table">
            <a:tbl>
              <a:tblPr/>
              <a:tblGrid>
                <a:gridCol w="3291840"/>
                <a:gridCol w="5029200"/>
                <a:gridCol w="2560320"/>
              </a:tblGrid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制度名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対象経費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補助率／助成率の目安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業務改善助成金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生産性向上設備・コンサル導入・人材育成費 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最大 9/10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IT導入補助金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業務効率化・DX関連のITツール導入費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1/2 〜 3/4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ものづくり補助金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革新的な設備投資・試作開発費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1/2 〜 2/3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小規模事業者持続化補助金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販路開拓・広告・Webサイト制作費 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2/3 が目安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キャリアアップ助成金 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非正規雇用者の処遇改善に関する費用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制度により異なる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自治体独自の助成制度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家賃・省エネ設備・雇用維持 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自治体・年度により異なる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5623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※制度は年度・公募回によって新設・終了・要件変更があります。最新情報は診断時にご案内します。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助成金・補助金活用コンサルティング　資料請求資料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選ばれる理由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〔御社の強み・実績に応じて編集してください〕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074920" cy="2148840"/>
          </a:xfrm>
          <a:prstGeom prst="roundRect">
            <a:avLst>
              <a:gd name="adj" fmla="val 3404"/>
            </a:avLst>
          </a:prstGeom>
          <a:solidFill>
            <a:srgbClr val="16204F"/>
          </a:solidFill>
          <a:ln/>
        </p:spPr>
      </p:sp>
      <p:sp>
        <p:nvSpPr>
          <p:cNvPr id="5" name="Shape 3"/>
          <p:cNvSpPr/>
          <p:nvPr/>
        </p:nvSpPr>
        <p:spPr>
          <a:xfrm>
            <a:off x="982980" y="2331720"/>
            <a:ext cx="868680" cy="868680"/>
          </a:xfrm>
          <a:prstGeom prst="ellipse">
            <a:avLst/>
          </a:prstGeom>
          <a:solidFill>
            <a:srgbClr val="D4A73D"/>
          </a:solidFill>
          <a:ln/>
        </p:spPr>
      </p:sp>
      <p:pic>
        <p:nvPicPr>
          <p:cNvPr id="6" name="Image 0" descr="/tmp/claude-0/-home-user-DM-/98b145ee-d85d-5913-a881-95f99ca0c0f7/scratchpad/josei-pptx/icons/shield_1E27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1463" y="2540203"/>
            <a:ext cx="451714" cy="4517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11680" y="20116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専門家による支援体制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2011680" y="251460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社会保険労務士・中小企業診断士等の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専門家が制度選定から関与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080760" y="1691640"/>
            <a:ext cx="5074920" cy="2148840"/>
          </a:xfrm>
          <a:prstGeom prst="roundRect">
            <a:avLst>
              <a:gd name="adj" fmla="val 3404"/>
            </a:avLst>
          </a:prstGeom>
          <a:solidFill>
            <a:srgbClr val="16204F"/>
          </a:solidFill>
          <a:ln/>
        </p:spPr>
      </p:sp>
      <p:sp>
        <p:nvSpPr>
          <p:cNvPr id="10" name="Shape 7"/>
          <p:cNvSpPr/>
          <p:nvPr/>
        </p:nvSpPr>
        <p:spPr>
          <a:xfrm>
            <a:off x="6423660" y="2331720"/>
            <a:ext cx="868680" cy="868680"/>
          </a:xfrm>
          <a:prstGeom prst="ellipse">
            <a:avLst/>
          </a:prstGeom>
          <a:solidFill>
            <a:srgbClr val="D4A73D"/>
          </a:solidFill>
          <a:ln/>
        </p:spPr>
      </p:sp>
      <p:pic>
        <p:nvPicPr>
          <p:cNvPr id="11" name="Image 1" descr="/tmp/claude-0/-home-user-DM-/98b145ee-d85d-5913-a881-95f99ca0c0f7/scratchpad/josei-pptx/icons/filesign_1E276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2143" y="2540203"/>
            <a:ext cx="451714" cy="4517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20116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申請書類の作成〜提出代行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452360" y="251460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煩雑な書類作成・行政とのやり取りを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ワンストップでサポート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4160520"/>
            <a:ext cx="5074920" cy="2148840"/>
          </a:xfrm>
          <a:prstGeom prst="roundRect">
            <a:avLst>
              <a:gd name="adj" fmla="val 3404"/>
            </a:avLst>
          </a:prstGeom>
          <a:solidFill>
            <a:srgbClr val="16204F"/>
          </a:solidFill>
          <a:ln/>
        </p:spPr>
      </p:sp>
      <p:sp>
        <p:nvSpPr>
          <p:cNvPr id="15" name="Shape 11"/>
          <p:cNvSpPr/>
          <p:nvPr/>
        </p:nvSpPr>
        <p:spPr>
          <a:xfrm>
            <a:off x="982980" y="4800600"/>
            <a:ext cx="868680" cy="868680"/>
          </a:xfrm>
          <a:prstGeom prst="ellipse">
            <a:avLst/>
          </a:prstGeom>
          <a:solidFill>
            <a:srgbClr val="D4A73D"/>
          </a:solidFill>
          <a:ln/>
        </p:spPr>
      </p:sp>
      <p:pic>
        <p:nvPicPr>
          <p:cNvPr id="16" name="Image 2" descr="/tmp/claude-0/-home-user-DM-/98b145ee-d85d-5913-a881-95f99ca0c0f7/scratchpad/josei-pptx/icons/handshake_1E276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463" y="5009083"/>
            <a:ext cx="451714" cy="45171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011680" y="44805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選定から受給後まで伴走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2011680" y="498348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採択後の実績報告・受給手続きまで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一貫してフォロー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080760" y="4160520"/>
            <a:ext cx="5074920" cy="2148840"/>
          </a:xfrm>
          <a:prstGeom prst="roundRect">
            <a:avLst>
              <a:gd name="adj" fmla="val 3404"/>
            </a:avLst>
          </a:prstGeom>
          <a:solidFill>
            <a:srgbClr val="16204F"/>
          </a:solidFill>
          <a:ln/>
        </p:spPr>
      </p:sp>
      <p:sp>
        <p:nvSpPr>
          <p:cNvPr id="20" name="Shape 15"/>
          <p:cNvSpPr/>
          <p:nvPr/>
        </p:nvSpPr>
        <p:spPr>
          <a:xfrm>
            <a:off x="6423660" y="4800600"/>
            <a:ext cx="868680" cy="868680"/>
          </a:xfrm>
          <a:prstGeom prst="ellipse">
            <a:avLst/>
          </a:prstGeom>
          <a:solidFill>
            <a:srgbClr val="D4A73D"/>
          </a:solidFill>
          <a:ln/>
        </p:spPr>
      </p:sp>
      <p:pic>
        <p:nvPicPr>
          <p:cNvPr id="21" name="Image 3" descr="/tmp/claude-0/-home-user-DM-/98b145ee-d85d-5913-a881-95f99ca0c0f7/scratchpad/josei-pptx/icons/coins_1E276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2143" y="5009083"/>
            <a:ext cx="451714" cy="45171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52360" y="44805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明瞭な料金体系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452360" y="498348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着手金・成功報酬など料金体系を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事前に明示し安心して依頼可能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助成金・補助金活用コンサルティング　資料請求資料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支援実績（イメージ）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※以下は構成イメージです。実際の支援実績・数値に差し替えてご使用ください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965960"/>
            <a:ext cx="297180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659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〔業種を記入〕製造業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課題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設備更新費が負担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4290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活用制度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37033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ものづくり補助金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4297680"/>
            <a:ext cx="2971800" cy="0"/>
          </a:xfrm>
          <a:prstGeom prst="line">
            <a:avLst/>
          </a:prstGeom>
          <a:noFill/>
          <a:ln w="12700">
            <a:solidFill>
              <a:srgbClr val="D8DE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43484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対象経費の</a:t>
            </a:r>
            <a:endParaRPr lang="en-US" sz="20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〔◯〕%圧縮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434840" y="169164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F4F6FB"/>
          </a:solidFill>
          <a:ln/>
        </p:spPr>
      </p:sp>
      <p:sp>
        <p:nvSpPr>
          <p:cNvPr id="14" name="Shape 12"/>
          <p:cNvSpPr/>
          <p:nvPr/>
        </p:nvSpPr>
        <p:spPr>
          <a:xfrm>
            <a:off x="4709160" y="1965960"/>
            <a:ext cx="297180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4709160" y="19659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〔業種を記入〕IT・サービス業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709160" y="26517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課題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09160" y="29260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システム導入費が負担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09160" y="34290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活用制度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09160" y="37033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IT導入補助金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4297680"/>
            <a:ext cx="2971800" cy="0"/>
          </a:xfrm>
          <a:prstGeom prst="line">
            <a:avLst/>
          </a:prstGeom>
          <a:noFill/>
          <a:ln w="12700">
            <a:solidFill>
              <a:srgbClr val="D8DE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443484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対象経費の</a:t>
            </a:r>
            <a:endParaRPr lang="en-US" sz="20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〔◯〕%圧縮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229600" y="169164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F4F6FB"/>
          </a:solidFill>
          <a:ln/>
        </p:spPr>
      </p:sp>
      <p:sp>
        <p:nvSpPr>
          <p:cNvPr id="23" name="Shape 21"/>
          <p:cNvSpPr/>
          <p:nvPr/>
        </p:nvSpPr>
        <p:spPr>
          <a:xfrm>
            <a:off x="8503920" y="1965960"/>
            <a:ext cx="297180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19659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〔業種を記入〕小売・飲食業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503920" y="26517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課題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503920" y="29260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販促費・人件費が負担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503920" y="34290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活用制度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503920" y="37033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小規模事業者持続化補助金 等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503920" y="4297680"/>
            <a:ext cx="2971800" cy="0"/>
          </a:xfrm>
          <a:prstGeom prst="line">
            <a:avLst/>
          </a:prstGeom>
          <a:noFill/>
          <a:ln w="12700">
            <a:solidFill>
              <a:srgbClr val="D8DE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03920" y="443484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対象経費の</a:t>
            </a:r>
            <a:endParaRPr lang="en-US" sz="20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〔◯〕%圧縮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助成金・補助金活用コンサルティング　資料請求資料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ご利用の流れ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お問い合わせから受給後のフォローまで、専門家が一貫してサポートします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37260" y="2057400"/>
            <a:ext cx="1280160" cy="12801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tmp/claude-0/-home-user-DM-/98b145ee-d85d-5913-a881-95f99ca0c0f7/scratchpad/josei-pptx/icons/search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4498" y="2364638"/>
            <a:ext cx="665683" cy="66568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82980" y="21031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" y="35661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無料診断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" y="397764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経費構造・事業計画をヒアリング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 rot="5400000">
            <a:off x="2542032" y="2596896"/>
            <a:ext cx="201168" cy="201168"/>
          </a:xfrm>
          <a:prstGeom prst="triangle">
            <a:avLst/>
          </a:prstGeom>
          <a:solidFill>
            <a:srgbClr val="D4A73D"/>
          </a:solidFill>
          <a:ln/>
        </p:spPr>
      </p:sp>
      <p:sp>
        <p:nvSpPr>
          <p:cNvPr id="10" name="Shape 7"/>
          <p:cNvSpPr/>
          <p:nvPr/>
        </p:nvSpPr>
        <p:spPr>
          <a:xfrm>
            <a:off x="3067812" y="2057400"/>
            <a:ext cx="1280160" cy="12801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tmp/claude-0/-home-user-DM-/98b145ee-d85d-5913-a881-95f99ca0c0f7/scratchpad/josei-pptx/icons/clipboard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5050" y="2364638"/>
            <a:ext cx="665683" cy="66568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113532" y="21031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2770632" y="35661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制度選定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2633472" y="397764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適用可能な制度を洗い出し提案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 rot="5400000">
            <a:off x="4672584" y="2596896"/>
            <a:ext cx="201168" cy="201168"/>
          </a:xfrm>
          <a:prstGeom prst="triangle">
            <a:avLst/>
          </a:prstGeom>
          <a:solidFill>
            <a:srgbClr val="D4A73D"/>
          </a:solidFill>
          <a:ln/>
        </p:spPr>
      </p:sp>
      <p:sp>
        <p:nvSpPr>
          <p:cNvPr id="16" name="Shape 12"/>
          <p:cNvSpPr/>
          <p:nvPr/>
        </p:nvSpPr>
        <p:spPr>
          <a:xfrm>
            <a:off x="5198364" y="2057400"/>
            <a:ext cx="1280160" cy="12801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/tmp/claude-0/-home-user-DM-/98b145ee-d85d-5913-a881-95f99ca0c0f7/scratchpad/josei-pptx/icons/filesign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5602" y="2364638"/>
            <a:ext cx="665683" cy="66568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244084" y="21031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901184" y="35661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書類作成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4764024" y="397764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申請書類の作成をサポート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 rot="5400000">
            <a:off x="6803136" y="2596896"/>
            <a:ext cx="201168" cy="201168"/>
          </a:xfrm>
          <a:prstGeom prst="triangle">
            <a:avLst/>
          </a:prstGeom>
          <a:solidFill>
            <a:srgbClr val="D4A73D"/>
          </a:solidFill>
          <a:ln/>
        </p:spPr>
      </p:sp>
      <p:sp>
        <p:nvSpPr>
          <p:cNvPr id="22" name="Shape 17"/>
          <p:cNvSpPr/>
          <p:nvPr/>
        </p:nvSpPr>
        <p:spPr>
          <a:xfrm>
            <a:off x="7328916" y="2057400"/>
            <a:ext cx="1280160" cy="12801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3" descr="/tmp/claude-0/-home-user-DM-/98b145ee-d85d-5913-a881-95f99ca0c0f7/scratchpad/josei-pptx/icons/gavel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6154" y="2364638"/>
            <a:ext cx="665683" cy="66568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374636" y="21031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7031736" y="35661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提出・審査対応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6894576" y="397764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行政とのやり取りを代行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 rot="5400000">
            <a:off x="8933688" y="2596896"/>
            <a:ext cx="201168" cy="201168"/>
          </a:xfrm>
          <a:prstGeom prst="triangle">
            <a:avLst/>
          </a:prstGeom>
          <a:solidFill>
            <a:srgbClr val="D4A73D"/>
          </a:solidFill>
          <a:ln/>
        </p:spPr>
      </p:sp>
      <p:sp>
        <p:nvSpPr>
          <p:cNvPr id="28" name="Shape 22"/>
          <p:cNvSpPr/>
          <p:nvPr/>
        </p:nvSpPr>
        <p:spPr>
          <a:xfrm>
            <a:off x="9459468" y="2057400"/>
            <a:ext cx="1280160" cy="1280160"/>
          </a:xfrm>
          <a:prstGeom prst="ellipse">
            <a:avLst/>
          </a:prstGeom>
          <a:solidFill>
            <a:srgbClr val="D4A73D"/>
          </a:solidFill>
          <a:ln/>
        </p:spPr>
      </p:sp>
      <p:pic>
        <p:nvPicPr>
          <p:cNvPr id="29" name="Image 4" descr="/tmp/claude-0/-home-user-DM-/98b145ee-d85d-5913-a881-95f99ca0c0f7/scratchpad/josei-pptx/icons/check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6706" y="2364638"/>
            <a:ext cx="665683" cy="665683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505188" y="21031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9162288" y="35661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受給後フォロー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9025128" y="397764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実績報告・次回制度の案内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640080" y="521208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/>
        </p:spPr>
      </p:sp>
      <p:sp>
        <p:nvSpPr>
          <p:cNvPr id="34" name="Text 27"/>
          <p:cNvSpPr/>
          <p:nvPr/>
        </p:nvSpPr>
        <p:spPr>
          <a:xfrm>
            <a:off x="914400" y="52120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診断・お見積りは無料です。まずはお気軽にご相談ください。</a:t>
            </a:r>
            <a:endParaRPr lang="en-US" sz="1300" dirty="0"/>
          </a:p>
        </p:txBody>
      </p:sp>
      <p:sp>
        <p:nvSpPr>
          <p:cNvPr id="35" name="Text 2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助成金・補助金活用コンサルティング　資料請求資料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料金体系（例）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※金額・体系は御社のサービス内容に合わせて差し替えてください</a:t>
            </a:r>
            <a:endParaRPr lang="en-US" sz="11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2926080"/>
        </p:xfrm>
        <a:graphic>
          <a:graphicData uri="http://schemas.openxmlformats.org/drawingml/2006/table">
            <a:tbl>
              <a:tblPr/>
              <a:tblGrid>
                <a:gridCol w="2743200"/>
                <a:gridCol w="5669280"/>
                <a:gridCol w="2468880"/>
              </a:tblGrid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項目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内容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料金の目安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無料診断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対象制度の洗い出し・概算試算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無料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着手金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申請書類の作成・提出支援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〔◯〕万円〜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成功報酬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採択・受給決定時のみ発生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受給額の〔◯〕%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継続サポート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実績報告・次年度以降の制度案内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〔月額／年額を記入〕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892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不採択の場合の着手金の扱い等、詳細な条件は個別にご説明いたします。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助成金・補助金活用コンサルティング　資料請求資料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よくあるご質問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7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25880" y="137160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自社に合う制度が分かりません。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325880" y="182880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無料診断で事業内容・経費構造をヒアリングし、適用可能性のある制度をご提案します。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7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251460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毎年、助成金・補助金を活用できますか？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325880" y="297180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制度によって年1回・通年募集など異なります。継続活用できるよう最新の公募情報をご案内します。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6576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7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25880" y="365760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不採択だった場合、費用はかかりますか？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325880" y="411480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料金体系は個別にご説明します。着手金の扱いは制度・契約内容により異なります。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8006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800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7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25880" y="480060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受給までどのくらいかかりますか？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325880" y="525780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制度によって数か月〜1年程度が目安です。公募スケジュールに応じてご案内します。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助成金・補助金活用コンサルティング　資料請求資料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会社概要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10881360" cy="4114800"/>
        </p:xfrm>
        <a:graphic>
          <a:graphicData uri="http://schemas.openxmlformats.org/drawingml/2006/table">
            <a:tbl>
              <a:tblPr/>
              <a:tblGrid>
                <a:gridCol w="2377440"/>
                <a:gridCol w="850392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商号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〔貴社名を記入〕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所在地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〔本社所在地を記入〕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設立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〔設立年月を記入〕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事業内容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助成金・補助金活用コンサルティング　等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有資格者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〔社会保険労務士／中小企業診断士 等の人数を記入〕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支援実績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〔支援件数・累計採択額 等を記入〕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助成金・補助金活用コンサルティング　資料請求資料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まずは無料診断から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貴社の固定費のうち、どの経費が助成金・補助金の対象になりうるか。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専門家が無料で診断いたします。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2834640"/>
            <a:ext cx="6035040" cy="777240"/>
          </a:xfrm>
          <a:prstGeom prst="roundRect">
            <a:avLst>
              <a:gd name="adj" fmla="val 11765"/>
            </a:avLst>
          </a:prstGeom>
          <a:solidFill>
            <a:srgbClr val="D4A7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83464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無料相談・お問い合わせはこちら　＞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38862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9F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TEL：〔電話番号を記入〕　／　Mail：〔メールアドレスを記入〕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9F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URL：〔資料請求フォームURLを記入〕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144000" y="2834640"/>
            <a:ext cx="210312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0" y="283464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QRコード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（フォームへ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リンク）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63093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C8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※本資料の記載内容は制度・年度により変更される場合があります。最新の制度内容は無料診断時にご確認ください。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2026-08-23T23:21:47Z</dcterms:created>
  <dcterms:modified xsi:type="dcterms:W3CDTF">2026-08-23T23:21:47Z</dcterms:modified>
</cp:coreProperties>
</file>