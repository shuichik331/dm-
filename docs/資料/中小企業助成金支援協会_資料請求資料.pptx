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4.png"/><Relationship Id="rId5" Type="http://schemas.openxmlformats.org/officeDocument/2006/relationships/image" Target="../media/image-3-4.png"/><Relationship Id="rId6" Type="http://schemas.openxmlformats.org/officeDocument/2006/relationships/image" Target="../media/image-3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DOCUMENT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8503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知らないと損をする、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「実質0円」という選択。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電気代・設備投資の負担は、助成金・補助金でとことん軽くできます。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中立な立場の専門家が、無料のAI診断でご案内します。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3931920" cy="1691640"/>
          </a:xfrm>
          <a:prstGeom prst="roundRect">
            <a:avLst>
              <a:gd name="adj" fmla="val 5405"/>
            </a:avLst>
          </a:prstGeom>
          <a:solidFill>
            <a:srgbClr val="1236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45079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電気代の実質負担を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68680" y="4800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30</a:t>
            </a:r>
            <a:pPr algn="l" indent="0" marL="0">
              <a:buNone/>
            </a:pPr>
            <a:r>
              <a:rPr lang="en-US" sz="20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〜</a:t>
            </a:r>
            <a:pPr algn="l" indent="0" marL="0">
              <a:buNone/>
            </a:pPr>
            <a:r>
              <a:rPr lang="en-US" sz="3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50</a:t>
            </a:r>
            <a:pPr algn="l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68680" y="55504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4343400"/>
            <a:ext cx="3931920" cy="1691640"/>
          </a:xfrm>
          <a:prstGeom prst="roundRect">
            <a:avLst>
              <a:gd name="adj" fmla="val 5405"/>
            </a:avLst>
          </a:prstGeom>
          <a:solidFill>
            <a:srgbClr val="F2A93B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45079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3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設備投資の自己負担が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74920" y="4800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6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実質0円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074920" y="55504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になったケースも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61447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※支援先の実績に基づく実際の数値です。金額・効果には個社差があります。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発行：一般社団法人 中小企業助成金支援協会　／　〔発行年月を記入〕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52560" y="0"/>
            <a:ext cx="3136392" cy="6858000"/>
          </a:xfrm>
          <a:prstGeom prst="rect">
            <a:avLst/>
          </a:prstGeom>
          <a:solidFill>
            <a:srgbClr val="1236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829800" y="1325880"/>
            <a:ext cx="1554480" cy="1554480"/>
          </a:xfrm>
          <a:prstGeom prst="ellipse">
            <a:avLst/>
          </a:prstGeom>
          <a:solidFill>
            <a:srgbClr val="1F5A47"/>
          </a:solidFill>
          <a:ln/>
        </p:spPr>
      </p:sp>
      <p:pic>
        <p:nvPicPr>
          <p:cNvPr id="17" name="Image 0" descr="/tmp/claude-0/-home-user-DM-/98b145ee-d85d-5913-a881-95f99ca0c0f7/scratchpad/josei-pptx/icons/coins_F2A9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2875" y="1698955"/>
            <a:ext cx="808330" cy="80833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532620" y="3589020"/>
            <a:ext cx="1051560" cy="1051560"/>
          </a:xfrm>
          <a:prstGeom prst="ellipse">
            <a:avLst/>
          </a:prstGeom>
          <a:solidFill>
            <a:srgbClr val="24634F"/>
          </a:solidFill>
          <a:ln/>
        </p:spPr>
      </p:sp>
      <p:pic>
        <p:nvPicPr>
          <p:cNvPr id="19" name="Image 1" descr="/tmp/claude-0/-home-user-DM-/98b145ee-d85d-5913-a881-95f99ca0c0f7/scratchpad/josei-pptx/icons/yen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994" y="3841394"/>
            <a:ext cx="546811" cy="54681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10629900" y="4594860"/>
            <a:ext cx="1051560" cy="1051560"/>
          </a:xfrm>
          <a:prstGeom prst="ellipse">
            <a:avLst/>
          </a:prstGeom>
          <a:solidFill>
            <a:srgbClr val="24634F"/>
          </a:solidFill>
          <a:ln/>
        </p:spPr>
      </p:sp>
      <p:pic>
        <p:nvPicPr>
          <p:cNvPr id="21" name="Image 2" descr="/tmp/claude-0/-home-user-DM-/98b145ee-d85d-5913-a881-95f99ca0c0f7/scratchpad/josei-pptx/icons/filesign_F2A93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274" y="4847234"/>
            <a:ext cx="546811" cy="5468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資料請求される方の多くが、こう感じています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電気代や助成金について、こんなお悩みはありませんか？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1874520" y="2217420"/>
            <a:ext cx="1051560" cy="10515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question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94" y="2469794"/>
            <a:ext cx="546811" cy="5468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31620" y="3566160"/>
            <a:ext cx="1737360" cy="457200"/>
          </a:xfrm>
          <a:prstGeom prst="roundRect">
            <a:avLst>
              <a:gd name="adj" fmla="val 44000"/>
            </a:avLst>
          </a:prstGeom>
          <a:solidFill>
            <a:srgbClr val="1B4D3E"/>
          </a:solidFill>
          <a:ln/>
        </p:spPr>
      </p:sp>
      <p:sp>
        <p:nvSpPr>
          <p:cNvPr id="8" name="Text 5"/>
          <p:cNvSpPr/>
          <p:nvPr/>
        </p:nvSpPr>
        <p:spPr>
          <a:xfrm>
            <a:off x="153162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「わからない」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42062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制度が複雑で、自社がどの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助成金の対象か判断できない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34840" y="16916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0" y="2217420"/>
            <a:ext cx="1051560" cy="10515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2" name="Image 1" descr="/tmp/claude-0/-home-user-DM-/98b145ee-d85d-5913-a881-95f99ca0c0f7/scratchpad/josei-pptx/icons/clock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654" y="2469794"/>
            <a:ext cx="546811" cy="546811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326380" y="3566160"/>
            <a:ext cx="1737360" cy="457200"/>
          </a:xfrm>
          <a:prstGeom prst="roundRect">
            <a:avLst>
              <a:gd name="adj" fmla="val 44000"/>
            </a:avLst>
          </a:prstGeom>
          <a:solidFill>
            <a:srgbClr val="1B4D3E"/>
          </a:solidFill>
          <a:ln/>
        </p:spPr>
      </p:sp>
      <p:sp>
        <p:nvSpPr>
          <p:cNvPr id="14" name="Text 10"/>
          <p:cNvSpPr/>
          <p:nvPr/>
        </p:nvSpPr>
        <p:spPr>
          <a:xfrm>
            <a:off x="532638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「めんどくさい」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09160" y="42062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公募要領を読み込み、書類を揃えて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申請するだけの時間も余裕もない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229600" y="16916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17" name="Shape 13"/>
          <p:cNvSpPr/>
          <p:nvPr/>
        </p:nvSpPr>
        <p:spPr>
          <a:xfrm>
            <a:off x="9464040" y="2217420"/>
            <a:ext cx="1051560" cy="10515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8" name="Image 2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414" y="2469794"/>
            <a:ext cx="546811" cy="54681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21140" y="3566160"/>
            <a:ext cx="1737360" cy="457200"/>
          </a:xfrm>
          <a:prstGeom prst="roundRect">
            <a:avLst>
              <a:gd name="adj" fmla="val 44000"/>
            </a:avLst>
          </a:prstGeom>
          <a:solidFill>
            <a:srgbClr val="1B4D3E"/>
          </a:solidFill>
          <a:ln/>
        </p:spPr>
      </p:sp>
      <p:sp>
        <p:nvSpPr>
          <p:cNvPr id="20" name="Text 15"/>
          <p:cNvSpPr/>
          <p:nvPr/>
        </p:nvSpPr>
        <p:spPr>
          <a:xfrm>
            <a:off x="912114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「この先が見えない」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503920" y="42062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活用したら実際どうなるのか、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イメージが湧かず一歩を踏み出せない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ご支援を受けると、こう変わります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「わからない・めんどくさい」を専門家に任せることで、見える景色が変わります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846320" cy="3977640"/>
          </a:xfrm>
          <a:prstGeom prst="roundRect">
            <a:avLst>
              <a:gd name="adj" fmla="val 1839"/>
            </a:avLst>
          </a:prstGeom>
          <a:solidFill>
            <a:srgbClr val="F2F7F4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これまで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651760"/>
            <a:ext cx="548640" cy="548640"/>
          </a:xfrm>
          <a:prstGeom prst="ellipse">
            <a:avLst/>
          </a:prstGeom>
          <a:solidFill>
            <a:srgbClr val="B0B8B3"/>
          </a:solidFill>
          <a:ln/>
        </p:spPr>
      </p:sp>
      <p:pic>
        <p:nvPicPr>
          <p:cNvPr id="7" name="Image 0" descr="/tmp/claude-0/-home-user-DM-/98b145ee-d85d-5913-a881-95f99ca0c0f7/scratchpad/josei-pptx/icons/time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354" y="27834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6060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制度が複雑でわからないまま、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毎年なんとなく過ぎていく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68680" y="3611880"/>
            <a:ext cx="548640" cy="548640"/>
          </a:xfrm>
          <a:prstGeom prst="ellipse">
            <a:avLst/>
          </a:prstGeom>
          <a:solidFill>
            <a:srgbClr val="B0B8B3"/>
          </a:solidFill>
          <a:ln/>
        </p:spPr>
      </p:sp>
      <p:pic>
        <p:nvPicPr>
          <p:cNvPr id="10" name="Image 1" descr="/tmp/claude-0/-home-user-DM-/98b145ee-d85d-5913-a881-95f99ca0c0f7/scratchpad/josei-pptx/icons/times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354" y="37435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35661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書類準備が面倒で、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申請を後回しにしてしまう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68680" y="4572000"/>
            <a:ext cx="548640" cy="548640"/>
          </a:xfrm>
          <a:prstGeom prst="ellipse">
            <a:avLst/>
          </a:prstGeom>
          <a:solidFill>
            <a:srgbClr val="B0B8B3"/>
          </a:solidFill>
          <a:ln/>
        </p:spPr>
      </p:sp>
      <p:pic>
        <p:nvPicPr>
          <p:cNvPr id="13" name="Image 2" descr="/tmp/claude-0/-home-user-DM-/98b145ee-d85d-5913-a881-95f99ca0c0f7/scratchpad/josei-pptx/icons/times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470367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4526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電気代の負担がそのまま重く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のしかかり続ける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 rot="5400000">
            <a:off x="5632704" y="3479292"/>
            <a:ext cx="402336" cy="402336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6" name="Shape 11"/>
          <p:cNvSpPr/>
          <p:nvPr/>
        </p:nvSpPr>
        <p:spPr>
          <a:xfrm>
            <a:off x="6675120" y="1691640"/>
            <a:ext cx="4846320" cy="3977640"/>
          </a:xfrm>
          <a:prstGeom prst="roundRect">
            <a:avLst>
              <a:gd name="adj" fmla="val 1839"/>
            </a:avLst>
          </a:prstGeom>
          <a:solidFill>
            <a:srgbClr val="1B4D3E"/>
          </a:solidFill>
          <a:ln/>
        </p:spPr>
      </p:sp>
      <p:sp>
        <p:nvSpPr>
          <p:cNvPr id="17" name="Text 12"/>
          <p:cNvSpPr/>
          <p:nvPr/>
        </p:nvSpPr>
        <p:spPr>
          <a:xfrm>
            <a:off x="699516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ご支援を受けると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903720" y="26517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9" name="Image 3" descr="/tmp/claude-0/-home-user-DM-/98b145ee-d85d-5913-a881-95f99ca0c0f7/scratchpad/josei-pptx/icons/check_1B4D3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394" y="2783434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589520" y="26060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AI診断で、対象となりうる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制度が一目でわかる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903720" y="361188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2" name="Image 4" descr="/tmp/claude-0/-home-user-DM-/98b145ee-d85d-5913-a881-95f99ca0c0f7/scratchpad/josei-pptx/icons/check_1B4D3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5394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589520" y="35661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書類作成・行政対応も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専門家が伴走サポート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903720" y="457200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5" name="Image 5" descr="/tmp/claude-0/-home-user-DM-/98b145ee-d85d-5913-a881-95f99ca0c0f7/scratchpad/josei-pptx/icons/check_1B4D3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394" y="4703674"/>
            <a:ext cx="285293" cy="28529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589520" y="4526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電気代が軽くなり、設備投資も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実質0円で叶うケースも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「わからない」を「わかる」に、「めんどくさい」を「おまかせ」に。使えば使うほど、経営に余白が生まれます。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私たちにできること　－　4つの支援内容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特定の施工業者に偏らない、中立・透明な立場でご相談に応じます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982980" y="214884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comment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518" y="23353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8745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補助金情報の透明提供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920240" y="230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省エネ関連の補助金・助成金について、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要件や対象を分かりやすく整理してお届け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0760" y="164592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0" name="Shape 7"/>
          <p:cNvSpPr/>
          <p:nvPr/>
        </p:nvSpPr>
        <p:spPr>
          <a:xfrm>
            <a:off x="6423660" y="214884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98" y="233537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18745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地域ごとの制度整理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360920" y="230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地域ごとに異なる制度を、公開されている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公募要領をもとに整理してご案内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5" name="Shape 11"/>
          <p:cNvSpPr/>
          <p:nvPr/>
        </p:nvSpPr>
        <p:spPr>
          <a:xfrm>
            <a:off x="982980" y="416052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6" name="Image 2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18" y="434705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3886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地域の施工会社紹介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92024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実績のある地域の担当施工会社を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お繋ぎします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08076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23660" y="416052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1" name="Image 3" descr="/tmp/claude-0/-home-user-DM-/98b145ee-d85d-5913-a881-95f99ca0c0f7/scratchpad/josei-pptx/icons/shield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198" y="434705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3886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省エネ設備導入相談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6092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LED・空調・太陽光・蓄電池など、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中立の立場で設備更新をご相談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55778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12362B"/>
          </a:solidFill>
          <a:ln/>
        </p:spPr>
      </p:sp>
      <p:sp>
        <p:nvSpPr>
          <p:cNvPr id="25" name="Shape 19"/>
          <p:cNvSpPr/>
          <p:nvPr/>
        </p:nvSpPr>
        <p:spPr>
          <a:xfrm>
            <a:off x="891540" y="5628132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6" name="Image 4" descr="/tmp/claude-0/-home-user-DM-/98b145ee-d85d-5913-a881-95f99ca0c0f7/scratchpad/josei-pptx/icons/laptop_12362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" y="5792724"/>
            <a:ext cx="356616" cy="35661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5778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自社開発のAI診断ツールで、業種・設備・規模から対象となりうる補助金・助成金を無料診断できます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電気代・設備導入に使える助成金・補助金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電気代の削減や設備導入は、国や自治体の補助金・優遇制度の対象になる場合があります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4023360"/>
        </p:xfrm>
        <a:graphic>
          <a:graphicData uri="http://schemas.openxmlformats.org/drawingml/2006/table">
            <a:tbl>
              <a:tblPr/>
              <a:tblGrid>
                <a:gridCol w="4297680"/>
                <a:gridCol w="3840480"/>
                <a:gridCol w="2743200"/>
              </a:tblGrid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制度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対象となりうる経費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内容の目安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業務改善助成金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生産性向上・電気代削減につながる設備投資 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最大 9/10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国の太陽光・蓄電池関連補助金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太陽光パネル・産業用蓄電池の設置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設備費の一部を補助（年度により変動）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省エネ関連の補助金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LED・省エネエアコン等の設備更新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更新費用の一部を補助する制度あり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自治体独自の補助制度（例：クールネット東京 等）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太陽光・蓄電池・省エネ設備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自治体により対象・金額が異なる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税制優遇（中小企業経営強化税制 等）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生産性向上に資する設備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即時償却・税額控除の選択が可能な場合あり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※制度は年度・自治体により新設・終了・要件変更があります。地域ごとの最新情報は無料相談時にご案内します。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電気代 30〜50%削減の実績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支援先の声（一部抜粋）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949440" cy="3108960"/>
          </a:xfrm>
          <a:prstGeom prst="roundRect">
            <a:avLst>
              <a:gd name="adj" fmla="val 2353"/>
            </a:avLst>
          </a:prstGeom>
          <a:solidFill>
            <a:srgbClr val="1B4D3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工場の電気代が高くて困っていましたが、補助金を活用した設備更新で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電気代が半分ほどになり、本当に助かりました。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補助金も無事に交付されました。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402336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大阪府・製造業　（支援先の声）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909560" y="173736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2F7F4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18745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601200" y="19202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削減の目安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（LED・空調中心）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909560" y="342900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2F7F4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35661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50%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601200" y="36118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削減の目安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（太陽光＋蓄電池併用）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※削減率は支援先の実績に基づきますが、建物条件・使用状況により個社差があります。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選ばれる理由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4" name="Shape 2"/>
          <p:cNvSpPr/>
          <p:nvPr/>
        </p:nvSpPr>
        <p:spPr>
          <a:xfrm>
            <a:off x="982980" y="233172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" name="Image 0" descr="/tmp/claude-0/-home-user-DM-/98b145ee-d85d-5913-a881-95f99ca0c0f7/scratchpad/josei-pptx/icons/search_1B4D3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463" y="2540203"/>
            <a:ext cx="451714" cy="4517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省エネ分野への専門特化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201168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幅広い制度を浅く扱うのではなく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省エネ関連に絞り込み、精度を確保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08076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9" name="Shape 6"/>
          <p:cNvSpPr/>
          <p:nvPr/>
        </p:nvSpPr>
        <p:spPr>
          <a:xfrm>
            <a:off x="6423660" y="233172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0" name="Image 1" descr="/tmp/claude-0/-home-user-DM-/98b145ee-d85d-5913-a881-95f99ca0c0f7/scratchpad/josei-pptx/icons/shield_1B4D3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143" y="254020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5236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中立・透明な立場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745236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特定の施工業者に偏らない、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協会としての中立な立場でご案内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14" name="Shape 10"/>
          <p:cNvSpPr/>
          <p:nvPr/>
        </p:nvSpPr>
        <p:spPr>
          <a:xfrm>
            <a:off x="982980" y="480060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5" name="Image 2" descr="/tmp/claude-0/-home-user-DM-/98b145ee-d85d-5913-a881-95f99ca0c0f7/scratchpad/josei-pptx/icons/handshake_1B4D3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463" y="5009083"/>
            <a:ext cx="451714" cy="45171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01168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中小企業に寄り添う進め方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201168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限られた人員・時間で動く現場を前提に、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無理のない進め方をご提案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08076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19" name="Shape 14"/>
          <p:cNvSpPr/>
          <p:nvPr/>
        </p:nvSpPr>
        <p:spPr>
          <a:xfrm>
            <a:off x="6423660" y="480060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0" name="Image 3" descr="/tmp/claude-0/-home-user-DM-/98b145ee-d85d-5913-a881-95f99ca0c0f7/scratchpad/josei-pptx/icons/laptop_1B4D3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143" y="5009083"/>
            <a:ext cx="451714" cy="45171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AI診断ツールで無料診断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745236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業種・設備・規模から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対象となりうる補助金を無料で診断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支援実績（一部抜粋）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愛知県・製造業（B社様）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使える補助金があることを知らなかった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太陽光発電・空調設備の入れ替え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「意外と、申請していない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だけで使える制度は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いろいろあるものですね」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3484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70916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大阪府・製造業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0916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0916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工場の電気代の高さが課題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0916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0916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省エネ設備の導入（補助金活用）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「電気代が半分ほどに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なり、本当に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助かりました」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22" name="Shape 20"/>
          <p:cNvSpPr/>
          <p:nvPr/>
        </p:nvSpPr>
        <p:spPr>
          <a:xfrm>
            <a:off x="850392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23" name="Text 21"/>
          <p:cNvSpPr/>
          <p:nvPr/>
        </p:nvSpPr>
        <p:spPr>
          <a:xfrm>
            <a:off x="850392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東京都・飲食店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0392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太陽光導入の初期費用が不安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0392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0392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太陽光発電（クールネット東京の補助金）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0392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「補助金を活用して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実質ほぼ自己負担なく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導入できました」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ご利用の流れ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無料相談から導入後のフォローまで、専門スタッフが一貫してサポートします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37260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5" name="Image 0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498" y="2364638"/>
            <a:ext cx="665683" cy="6656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298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無料相談・AI診断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業種・設備・規模をヒアリングし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対象補助金をAIで無料診断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 rot="5400000">
            <a:off x="2542032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0" name="Shape 7"/>
          <p:cNvSpPr/>
          <p:nvPr/>
        </p:nvSpPr>
        <p:spPr>
          <a:xfrm>
            <a:off x="3067812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clipboard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5050" y="2364638"/>
            <a:ext cx="665683" cy="66568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13532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2770632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制度の整理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633472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地域ごとの公募要領をもとに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使える制度を整理してご案内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 rot="5400000">
            <a:off x="4672584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6" name="Shape 12"/>
          <p:cNvSpPr/>
          <p:nvPr/>
        </p:nvSpPr>
        <p:spPr>
          <a:xfrm>
            <a:off x="5198364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7" name="Image 2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602" y="2364638"/>
            <a:ext cx="665683" cy="66568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244084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901184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施工会社をご紹介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764024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実績のある地域の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担当施工会社をお繋ぎ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 rot="5400000">
            <a:off x="6803136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22" name="Shape 17"/>
          <p:cNvSpPr/>
          <p:nvPr/>
        </p:nvSpPr>
        <p:spPr>
          <a:xfrm>
            <a:off x="7328916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3" name="Image 3" descr="/tmp/claude-0/-home-user-DM-/98b145ee-d85d-5913-a881-95f99ca0c0f7/scratchpad/josei-pptx/icons/filesign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6154" y="2364638"/>
            <a:ext cx="665683" cy="66568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74636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7031736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導入・申請サポート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894576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補助金申請から設備導入まで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伴走支援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5400000">
            <a:off x="8933688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28" name="Shape 22"/>
          <p:cNvSpPr/>
          <p:nvPr/>
        </p:nvSpPr>
        <p:spPr>
          <a:xfrm>
            <a:off x="9459468" y="2057400"/>
            <a:ext cx="1280160" cy="12801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9" name="Image 4" descr="/tmp/claude-0/-home-user-DM-/98b145ee-d85d-5913-a881-95f99ca0c0f7/scratchpad/josei-pptx/icons/check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706" y="2364638"/>
            <a:ext cx="665683" cy="665683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505188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9162288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導入後フォロー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9025128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交付後の実績報告等を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サポート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40080" y="52120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7F4"/>
          </a:solidFill>
          <a:ln/>
        </p:spPr>
      </p:sp>
      <p:sp>
        <p:nvSpPr>
          <p:cNvPr id="34" name="Text 27"/>
          <p:cNvSpPr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ご相談・AI診断は無料です。まずはお気軽にご相談ください。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ご利用にあたって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安心してご相談いただくために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982980" y="22402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518" y="242681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初回相談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920240" y="2468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80760" y="17373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0" name="Shape 7"/>
          <p:cNvSpPr/>
          <p:nvPr/>
        </p:nvSpPr>
        <p:spPr>
          <a:xfrm>
            <a:off x="6423660" y="22402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laptop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98" y="242681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AI診断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360920" y="2468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5" name="Shape 11"/>
          <p:cNvSpPr/>
          <p:nvPr/>
        </p:nvSpPr>
        <p:spPr>
          <a:xfrm>
            <a:off x="982980" y="42976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6" name="Image 2" descr="/tmp/claude-0/-home-user-DM-/98b145ee-d85d-5913-a881-95f99ca0c0f7/scratchpad/josei-pptx/icons/shield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18" y="448421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0690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勧誘方針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920240" y="45262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無理な勧誘は行いません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080760" y="37947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23660" y="42976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1" name="Image 3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198" y="448421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40690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施工・工事費用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60920" y="45262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ご紹介する地域の施工会社との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個別のお見積りによります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よくあるご質問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25880" y="1371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本当に30〜50%も削減できますか？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325880" y="1828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支援先の導入実績に基づく削減率です。建物条件・使用状況により効果は異なるため、無料相談で個別にご案内します。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514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初期費用はどのくらいかかりますか？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25880" y="2971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設備・規模やご紹介する施工会社により異なります。補助金を組み合わせることで、自己負担が実質0円に近づいた支援実績もございます。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3657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特定の施工業者に誘導されませんか？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325880" y="4114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当協会は特定業者に偏らない中立な立場です。実績のある地域の施工会社を複数の選択肢としてご紹介します。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800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4800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しつこい営業はありませんか？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325880" y="5257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無理な勧誘は行っておりません。限られた時間で動く中小企業の現場を前提に、無理のない進め方をご提案します。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会社概要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5120640"/>
        </p:xfrm>
        <a:graphic>
          <a:graphicData uri="http://schemas.openxmlformats.org/drawingml/2006/table">
            <a:tbl>
              <a:tblPr/>
              <a:tblGrid>
                <a:gridCol w="2194560"/>
                <a:gridCol w="8686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一般社団法人 中小企業助成金支援協会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代表理事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鬼頭 涼太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法人番号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2010005041540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2026年3月17日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所在地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〒104-0053　東京都中央区晴海1丁目8番15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晴海アイランドトリトンスクエア オフィスタワーX棟 9F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事業内容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省エネ補助金・助成金情報提供、地域の施工会社紹介、省エネ設備導入相談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監修体制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特別顧問：藤原 吉恒（博士・学際総合研究所 代表取締役CEO）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対応エリア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全国対応（オンライン相談可）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まずは無料相談から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貴社が対象になりうる省エネ補助金を、AI診断で無料チェック。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無理な勧誘は行いません。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6035040" cy="777240"/>
          </a:xfrm>
          <a:prstGeom prst="roundRect">
            <a:avLst>
              <a:gd name="adj" fmla="val 11765"/>
            </a:avLst>
          </a:prstGeom>
          <a:solidFill>
            <a:srgbClr val="F2A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8346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6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無料相談・お問い合わせはこちら　＞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TEL：03-6843-8436（平日 9:00〜18:00）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URL：https://shoene-joseikin.jp/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0" y="2834640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0" y="28346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（フォームへ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リンク）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／　※記載の削減率・制度内容は変更される場合があります。最新の情報は無料相談時にご確認ください。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2026-08-24T00:02:12Z</dcterms:created>
  <dcterms:modified xsi:type="dcterms:W3CDTF">2026-08-24T00:02:12Z</dcterms:modified>
</cp:coreProperties>
</file>