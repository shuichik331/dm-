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DOCUMENT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8503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電気を「買う」から、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「創る」へ。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LED・省エネエアコン・太陽光発電・蓄電池の導入を、中立な立場の専門家が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補助金活用も含めて無料でサポートします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480560"/>
            <a:ext cx="6035040" cy="1554480"/>
          </a:xfrm>
          <a:prstGeom prst="roundRect">
            <a:avLst>
              <a:gd name="adj" fmla="val 5882"/>
            </a:avLst>
          </a:prstGeom>
          <a:solidFill>
            <a:srgbClr val="123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電気代の実質負担を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8920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30</a:t>
            </a:r>
            <a:pPr algn="l" indent="0" marL="0">
              <a:buNone/>
            </a:pPr>
            <a:r>
              <a:rPr lang="en-US" sz="24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〜</a:t>
            </a:r>
            <a:pPr algn="l" indent="0" marL="0">
              <a:buNone/>
            </a:pPr>
            <a:r>
              <a:rPr lang="en-US" sz="46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50</a:t>
            </a:r>
            <a:pPr algn="l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　※支援先の導入実績に基づく実際の削減額です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発行：一般社団法人 中小企業助成金支援協会　／　〔発行年月を記入〕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052560" y="0"/>
            <a:ext cx="3136392" cy="6858000"/>
          </a:xfrm>
          <a:prstGeom prst="rect">
            <a:avLst/>
          </a:prstGeom>
          <a:solidFill>
            <a:srgbClr val="12362B"/>
          </a:solidFill>
          <a:ln/>
        </p:spPr>
      </p:sp>
      <p:sp>
        <p:nvSpPr>
          <p:cNvPr id="11" name="Shape 9"/>
          <p:cNvSpPr/>
          <p:nvPr/>
        </p:nvSpPr>
        <p:spPr>
          <a:xfrm>
            <a:off x="9829800" y="1325880"/>
            <a:ext cx="1554480" cy="1554480"/>
          </a:xfrm>
          <a:prstGeom prst="ellipse">
            <a:avLst/>
          </a:prstGeom>
          <a:solidFill>
            <a:srgbClr val="1F5A47"/>
          </a:solidFill>
          <a:ln/>
        </p:spPr>
      </p:sp>
      <p:pic>
        <p:nvPicPr>
          <p:cNvPr id="12" name="Image 0" descr="/tmp/claude-0/-home-user-DM-/98b145ee-d85d-5913-a881-95f99ca0c0f7/scratchpad/josei-pptx/icons/solar_F2A9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2875" y="1698955"/>
            <a:ext cx="808330" cy="80833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32620" y="3589020"/>
            <a:ext cx="1051560" cy="1051560"/>
          </a:xfrm>
          <a:prstGeom prst="ellipse">
            <a:avLst/>
          </a:prstGeom>
          <a:solidFill>
            <a:srgbClr val="24634F"/>
          </a:solidFill>
          <a:ln/>
        </p:spPr>
      </p:sp>
      <p:pic>
        <p:nvPicPr>
          <p:cNvPr id="14" name="Image 1" descr="/tmp/claude-0/-home-user-DM-/98b145ee-d85d-5913-a881-95f99ca0c0f7/scratchpad/josei-pptx/icons/battery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994" y="3841394"/>
            <a:ext cx="546811" cy="546811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0629900" y="4594860"/>
            <a:ext cx="1051560" cy="1051560"/>
          </a:xfrm>
          <a:prstGeom prst="ellipse">
            <a:avLst/>
          </a:prstGeom>
          <a:solidFill>
            <a:srgbClr val="24634F"/>
          </a:solidFill>
          <a:ln/>
        </p:spPr>
      </p:sp>
      <p:pic>
        <p:nvPicPr>
          <p:cNvPr id="16" name="Image 2" descr="/tmp/claude-0/-home-user-DM-/98b145ee-d85d-5913-a881-95f99ca0c0f7/scratchpad/josei-pptx/icons/bulb_F2A93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274" y="4847234"/>
            <a:ext cx="546811" cy="5468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こんなお悩み、ありませんか？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電気料金の高騰が続くいま、固定費としての重さを実感する経営者が増えています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F2F7F4"/>
          </a:solidFill>
          <a:ln/>
        </p:spPr>
      </p:sp>
      <p:sp>
        <p:nvSpPr>
          <p:cNvPr id="5" name="Shape 3"/>
          <p:cNvSpPr/>
          <p:nvPr/>
        </p:nvSpPr>
        <p:spPr>
          <a:xfrm>
            <a:off x="982980" y="2331720"/>
            <a:ext cx="868680" cy="86868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6" name="Image 0" descr="/tmp/claude-0/-home-user-DM-/98b145ee-d85d-5913-a881-95f99ca0c0f7/scratchpad/josei-pptx/icons/bol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463" y="254020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電気代の高騰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01168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電力単価の上昇で、購入する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電気のコストが年々増加している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8076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F2F7F4"/>
          </a:solidFill>
          <a:ln/>
        </p:spPr>
      </p:sp>
      <p:sp>
        <p:nvSpPr>
          <p:cNvPr id="10" name="Shape 7"/>
          <p:cNvSpPr/>
          <p:nvPr/>
        </p:nvSpPr>
        <p:spPr>
          <a:xfrm>
            <a:off x="6423660" y="2331720"/>
            <a:ext cx="868680" cy="86868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industry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143" y="2540203"/>
            <a:ext cx="451714" cy="45171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5236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固定費としての重さ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45236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毎月確実に発生し、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利益を圧迫し続けている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F2F7F4"/>
          </a:solidFill>
          <a:ln/>
        </p:spPr>
      </p:sp>
      <p:sp>
        <p:nvSpPr>
          <p:cNvPr id="15" name="Shape 11"/>
          <p:cNvSpPr/>
          <p:nvPr/>
        </p:nvSpPr>
        <p:spPr>
          <a:xfrm>
            <a:off x="982980" y="4800600"/>
            <a:ext cx="868680" cy="86868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6" name="Image 2" descr="/tmp/claude-0/-home-user-DM-/98b145ee-d85d-5913-a881-95f99ca0c0f7/scratchpad/josei-pptx/icons/leaf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463" y="5009083"/>
            <a:ext cx="451714" cy="45171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脱炭素・省エネ対応の要請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201168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取引先や自治体から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CO2削減対応を求められている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08076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F2F7F4"/>
          </a:solidFill>
          <a:ln/>
        </p:spPr>
      </p:sp>
      <p:sp>
        <p:nvSpPr>
          <p:cNvPr id="20" name="Shape 15"/>
          <p:cNvSpPr/>
          <p:nvPr/>
        </p:nvSpPr>
        <p:spPr>
          <a:xfrm>
            <a:off x="6423660" y="4800600"/>
            <a:ext cx="868680" cy="86868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1" name="Image 3" descr="/tmp/claude-0/-home-user-DM-/98b145ee-d85d-5913-a881-95f99ca0c0f7/scratchpad/josei-pptx/icons/charg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143" y="5009083"/>
            <a:ext cx="451714" cy="45171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5236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停電・災害時の不安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5236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停電時の事業継続（BCP）に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備える自家発電・蓄電のニーズ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私たちにできること　－　4つの支援内容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特定の施工業者に偏らない、中立・透明な立場でご相談に応じます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5" name="Shape 3"/>
          <p:cNvSpPr/>
          <p:nvPr/>
        </p:nvSpPr>
        <p:spPr>
          <a:xfrm>
            <a:off x="982980" y="214884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6" name="Image 0" descr="/tmp/claude-0/-home-user-DM-/98b145ee-d85d-5913-a881-95f99ca0c0f7/scratchpad/josei-pptx/icons/comment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518" y="23353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8745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補助金情報の透明提供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920240" y="230428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省エネ関連の補助金・助成金について、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要件や対象を分かりやすく整理してお届け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0760" y="164592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0" name="Shape 7"/>
          <p:cNvSpPr/>
          <p:nvPr/>
        </p:nvSpPr>
        <p:spPr>
          <a:xfrm>
            <a:off x="6423660" y="214884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98" y="233537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18745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地域ごとの制度整理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360920" y="230428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地域ごとに異なる制度を、公開されている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公募要領をもとに整理してご案内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5" name="Shape 11"/>
          <p:cNvSpPr/>
          <p:nvPr/>
        </p:nvSpPr>
        <p:spPr>
          <a:xfrm>
            <a:off x="982980" y="416052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6" name="Image 2" descr="/tmp/claude-0/-home-user-DM-/98b145ee-d85d-5913-a881-95f99ca0c0f7/scratchpad/josei-pptx/icons/handshak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18" y="434705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38862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地域の施工会社紹介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92024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実績のある地域の担当施工会社を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お繋ぎします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08076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20" name="Shape 15"/>
          <p:cNvSpPr/>
          <p:nvPr/>
        </p:nvSpPr>
        <p:spPr>
          <a:xfrm>
            <a:off x="6423660" y="416052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1" name="Image 3" descr="/tmp/claude-0/-home-user-DM-/98b145ee-d85d-5913-a881-95f99ca0c0f7/scratchpad/josei-pptx/icons/shield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198" y="434705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38862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省エネ設備導入相談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6092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LED・空調・太陽光・蓄電池など、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中立の立場で設備更新をご相談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55778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12362B"/>
          </a:solidFill>
          <a:ln/>
        </p:spPr>
      </p:sp>
      <p:sp>
        <p:nvSpPr>
          <p:cNvPr id="25" name="Shape 19"/>
          <p:cNvSpPr/>
          <p:nvPr/>
        </p:nvSpPr>
        <p:spPr>
          <a:xfrm>
            <a:off x="891540" y="5628132"/>
            <a:ext cx="685800" cy="6858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6" name="Image 4" descr="/tmp/claude-0/-home-user-DM-/98b145ee-d85d-5913-a881-95f99ca0c0f7/scratchpad/josei-pptx/icons/laptop_12362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" y="5792724"/>
            <a:ext cx="356616" cy="35661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37360" y="55778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自社開発のAI診断ツールで、業種・設備・規模から対象となりうる補助金・助成金を無料診断できます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電気代が下がる仕組み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発電した電気を「自家消費」し、消費量そのものも減らすことで、購入する電気を最小化します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1B4D3E"/>
          </a:solidFill>
          <a:ln/>
        </p:spPr>
      </p:sp>
      <p:sp>
        <p:nvSpPr>
          <p:cNvPr id="5" name="Shape 3"/>
          <p:cNvSpPr/>
          <p:nvPr/>
        </p:nvSpPr>
        <p:spPr>
          <a:xfrm>
            <a:off x="1463040" y="212598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tmp/claude-0/-home-user-DM-/98b145ee-d85d-5913-a881-95f99ca0c0f7/scratchpad/josei-pptx/icons/solar_1B4D3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3469" y="2356409"/>
            <a:ext cx="499262" cy="4992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8680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太陽光で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発電する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 rot="5400000">
            <a:off x="3232404" y="2843784"/>
            <a:ext cx="256032" cy="256032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10" name="Shape 7"/>
          <p:cNvSpPr/>
          <p:nvPr/>
        </p:nvSpPr>
        <p:spPr>
          <a:xfrm>
            <a:off x="3611880" y="19202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236B54"/>
          </a:solidFill>
          <a:ln/>
        </p:spPr>
      </p:sp>
      <p:sp>
        <p:nvSpPr>
          <p:cNvPr id="11" name="Shape 8"/>
          <p:cNvSpPr/>
          <p:nvPr/>
        </p:nvSpPr>
        <p:spPr>
          <a:xfrm>
            <a:off x="4297680" y="212598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tmp/claude-0/-home-user-DM-/98b145ee-d85d-5913-a881-95f99ca0c0f7/scratchpad/josei-pptx/icons/battery_1B4D3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109" y="2356409"/>
            <a:ext cx="499262" cy="4992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49040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703320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蓄電池に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ためる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 rot="5400000">
            <a:off x="6067044" y="2843784"/>
            <a:ext cx="256032" cy="256032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16" name="Shape 12"/>
          <p:cNvSpPr/>
          <p:nvPr/>
        </p:nvSpPr>
        <p:spPr>
          <a:xfrm>
            <a:off x="6446520" y="19202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1B4D3E"/>
          </a:solidFill>
          <a:ln/>
        </p:spPr>
      </p:sp>
      <p:sp>
        <p:nvSpPr>
          <p:cNvPr id="17" name="Shape 13"/>
          <p:cNvSpPr/>
          <p:nvPr/>
        </p:nvSpPr>
        <p:spPr>
          <a:xfrm>
            <a:off x="7132320" y="212598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/tmp/claude-0/-home-user-DM-/98b145ee-d85d-5913-a881-95f99ca0c0f7/scratchpad/josei-pptx/icons/home_1B4D3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2749" y="2356409"/>
            <a:ext cx="499262" cy="49926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583680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537960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施設内で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自家消費する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 rot="5400000">
            <a:off x="8901684" y="2843784"/>
            <a:ext cx="256032" cy="256032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22" name="Shape 17"/>
          <p:cNvSpPr/>
          <p:nvPr/>
        </p:nvSpPr>
        <p:spPr>
          <a:xfrm>
            <a:off x="9281160" y="19202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236B54"/>
          </a:solidFill>
          <a:ln/>
        </p:spPr>
      </p:sp>
      <p:sp>
        <p:nvSpPr>
          <p:cNvPr id="23" name="Shape 18"/>
          <p:cNvSpPr/>
          <p:nvPr/>
        </p:nvSpPr>
        <p:spPr>
          <a:xfrm>
            <a:off x="9966960" y="212598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/tmp/claude-0/-home-user-DM-/98b145ee-d85d-5913-a881-95f99ca0c0f7/scratchpad/josei-pptx/icons/bulb_1B4D3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7389" y="2356409"/>
            <a:ext cx="499262" cy="49926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418320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372600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LED・省エネ機器で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使用量を減らす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777240" y="4434840"/>
            <a:ext cx="10424160" cy="1371600"/>
          </a:xfrm>
          <a:prstGeom prst="roundRect">
            <a:avLst>
              <a:gd name="adj" fmla="val 5333"/>
            </a:avLst>
          </a:prstGeom>
          <a:solidFill>
            <a:srgbClr val="F2F7F4"/>
          </a:solidFill>
          <a:ln/>
        </p:spPr>
      </p:sp>
      <p:sp>
        <p:nvSpPr>
          <p:cNvPr id="28" name="Shape 22"/>
          <p:cNvSpPr/>
          <p:nvPr/>
        </p:nvSpPr>
        <p:spPr>
          <a:xfrm>
            <a:off x="1051560" y="466344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9" name="Image 4" descr="/tmp/claude-0/-home-user-DM-/98b145ee-d85d-5913-a881-95f99ca0c0f7/scratchpad/josei-pptx/icons/plug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016" y="4882896"/>
            <a:ext cx="475488" cy="4754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2194560" y="443484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結果として、電力会社から「買う」電気の量そのものが減り、電気代の実質負担が下がります。</a:t>
            </a:r>
            <a:endParaRPr lang="en-US" sz="1450" dirty="0"/>
          </a:p>
        </p:txBody>
      </p:sp>
      <p:sp>
        <p:nvSpPr>
          <p:cNvPr id="31" name="Text 2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導入設備と削減効果の目安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3566160"/>
        </p:xfrm>
        <a:graphic>
          <a:graphicData uri="http://schemas.openxmlformats.org/drawingml/2006/table">
            <a:tbl>
              <a:tblPr/>
              <a:tblGrid>
                <a:gridCol w="2560320"/>
                <a:gridCol w="5943600"/>
                <a:gridCol w="237744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主な効果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削減効果の目安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LED照明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照明の消費電力を大幅に削減。発熱が少なく空調負荷も軽減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照明分で 40〜80%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省エネエアコン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高効率モデルへの更新で空調にかかるエネルギーを削減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旧型比で大幅省エネ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太陽光発電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自社で発電した電気を自家消費し、購入電力量を削減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自家消費率 50%以上も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蓄電池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発電した電気を蓄え、夜間・悪天候時も自家消費。ピークカットにも寄与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自家消費率をさらに向上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※削減率は一般的な公開データに基づく目安です。実際の効果は建物の状況・使用状況・機器仕様により異なります。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電気代 30〜50%削減の実績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支援先の声（一部抜粋）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949440" cy="3108960"/>
          </a:xfrm>
          <a:prstGeom prst="roundRect">
            <a:avLst>
              <a:gd name="adj" fmla="val 2353"/>
            </a:avLst>
          </a:prstGeom>
          <a:solidFill>
            <a:srgbClr val="1B4D3E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工場の電気代が高くて困っていましたが、省エネ設備の導入で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電気代が半分ほどになり、本当に助かりました。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補助金も無事に交付されました。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402336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大阪府・製造業　（支援先の声）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909560" y="173736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2F7F4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18745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601200" y="19202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削減の目安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（LED・空調中心）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909560" y="342900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2F7F4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35661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50%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601200" y="36118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削減の目安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（太陽光＋蓄電池併用）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※削減率は支援先の導入実績に基づきますが、建物条件・使用状況により個社差があります。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選ばれる理由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4" name="Shape 2"/>
          <p:cNvSpPr/>
          <p:nvPr/>
        </p:nvSpPr>
        <p:spPr>
          <a:xfrm>
            <a:off x="982980" y="233172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5" name="Image 0" descr="/tmp/claude-0/-home-user-DM-/98b145ee-d85d-5913-a881-95f99ca0c0f7/scratchpad/josei-pptx/icons/search_1B4D3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463" y="2540203"/>
            <a:ext cx="451714" cy="4517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省エネ分野への専門特化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201168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幅広い制度を浅く扱うのではなく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省エネ関連に絞り込み、精度を確保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08076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9" name="Shape 6"/>
          <p:cNvSpPr/>
          <p:nvPr/>
        </p:nvSpPr>
        <p:spPr>
          <a:xfrm>
            <a:off x="6423660" y="233172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0" name="Image 1" descr="/tmp/claude-0/-home-user-DM-/98b145ee-d85d-5913-a881-95f99ca0c0f7/scratchpad/josei-pptx/icons/shield_1B4D3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143" y="254020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5236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中立・透明な立場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745236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特定の施工業者に偏らない、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協会としての中立な立場でご案内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14" name="Shape 10"/>
          <p:cNvSpPr/>
          <p:nvPr/>
        </p:nvSpPr>
        <p:spPr>
          <a:xfrm>
            <a:off x="982980" y="480060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5" name="Image 2" descr="/tmp/claude-0/-home-user-DM-/98b145ee-d85d-5913-a881-95f99ca0c0f7/scratchpad/josei-pptx/icons/handshake_1B4D3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463" y="5009083"/>
            <a:ext cx="451714" cy="45171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01168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中小企業に寄り添う進め方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201168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限られた人員・時間で動く現場を前提に、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無理のない進め方をご提案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08076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19" name="Shape 14"/>
          <p:cNvSpPr/>
          <p:nvPr/>
        </p:nvSpPr>
        <p:spPr>
          <a:xfrm>
            <a:off x="6423660" y="480060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0" name="Image 3" descr="/tmp/claude-0/-home-user-DM-/98b145ee-d85d-5913-a881-95f99ca0c0f7/scratchpad/josei-pptx/icons/laptop_1B4D3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143" y="5009083"/>
            <a:ext cx="451714" cy="45171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AI診断ツールで無料診断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745236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業種・設備・規模から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対象となりうる補助金を無料で診断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支援実績（一部抜粋）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2880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1B4D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愛知県・製造業（B社様）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使える補助金があることを知らなかった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導入設備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太陽光発電・空調設備の入れ替え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2971800" cy="0"/>
          </a:xfrm>
          <a:prstGeom prst="line">
            <a:avLst/>
          </a:prstGeom>
          <a:noFill/>
          <a:ln w="12700">
            <a:solidFill>
              <a:srgbClr val="CFE2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572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「意外と、申請していない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だけで使える制度は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いろいろあるものですね」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3484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709160" y="182880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1B4D3E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828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大阪府・製造業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09160" y="2651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0916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工場の電気代の高さが課題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09160" y="3520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導入設備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09160" y="3794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省エネ設備の導入（補助金活用）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4434840"/>
            <a:ext cx="2971800" cy="0"/>
          </a:xfrm>
          <a:prstGeom prst="line">
            <a:avLst/>
          </a:prstGeom>
          <a:noFill/>
          <a:ln w="12700">
            <a:solidFill>
              <a:srgbClr val="CFE2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4572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「電気代が半分ほどに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なり、本当に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助かりました」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22" name="Shape 20"/>
          <p:cNvSpPr/>
          <p:nvPr/>
        </p:nvSpPr>
        <p:spPr>
          <a:xfrm>
            <a:off x="8503920" y="182880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1B4D3E"/>
          </a:solidFill>
          <a:ln/>
        </p:spPr>
      </p:sp>
      <p:sp>
        <p:nvSpPr>
          <p:cNvPr id="23" name="Text 21"/>
          <p:cNvSpPr/>
          <p:nvPr/>
        </p:nvSpPr>
        <p:spPr>
          <a:xfrm>
            <a:off x="8503920" y="1828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東京都・飲食店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03920" y="2651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太陽光導入の初期費用が不安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03920" y="3520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導入設備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03920" y="3794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太陽光発電（クールネット東京の補助金）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03920" y="4434840"/>
            <a:ext cx="2971800" cy="0"/>
          </a:xfrm>
          <a:prstGeom prst="line">
            <a:avLst/>
          </a:prstGeom>
          <a:noFill/>
          <a:ln w="12700">
            <a:solidFill>
              <a:srgbClr val="CFE2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0" y="4572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「補助金を活用して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実質ほぼ自己負担なく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導入できました」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ご利用の流れ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無料相談から導入後のフォローまで、専門スタッフが一貫してサポートします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37260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5" name="Image 0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498" y="2364638"/>
            <a:ext cx="665683" cy="6656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298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無料相談・AI診断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業種・設備・規模をヒアリングし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対象補助金をAIで無料診断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 rot="5400000">
            <a:off x="2542032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10" name="Shape 7"/>
          <p:cNvSpPr/>
          <p:nvPr/>
        </p:nvSpPr>
        <p:spPr>
          <a:xfrm>
            <a:off x="3067812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clipboard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5050" y="2364638"/>
            <a:ext cx="665683" cy="66568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13532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2770632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制度の整理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633472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地域ごとの公募要領をもとに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使える制度を整理してご案内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 rot="5400000">
            <a:off x="4672584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16" name="Shape 12"/>
          <p:cNvSpPr/>
          <p:nvPr/>
        </p:nvSpPr>
        <p:spPr>
          <a:xfrm>
            <a:off x="5198364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7" name="Image 2" descr="/tmp/claude-0/-home-user-DM-/98b145ee-d85d-5913-a881-95f99ca0c0f7/scratchpad/josei-pptx/icons/handshak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602" y="2364638"/>
            <a:ext cx="665683" cy="66568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244084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901184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施工会社をご紹介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764024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実績のある地域の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担当施工会社をお繋ぎ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 rot="5400000">
            <a:off x="6803136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22" name="Shape 17"/>
          <p:cNvSpPr/>
          <p:nvPr/>
        </p:nvSpPr>
        <p:spPr>
          <a:xfrm>
            <a:off x="7328916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3" name="Image 3" descr="/tmp/claude-0/-home-user-DM-/98b145ee-d85d-5913-a881-95f99ca0c0f7/scratchpad/josei-pptx/icons/filesign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6154" y="2364638"/>
            <a:ext cx="665683" cy="66568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74636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7031736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導入・申請サポート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894576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補助金申請から設備導入まで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伴走支援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5400000">
            <a:off x="8933688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28" name="Shape 22"/>
          <p:cNvSpPr/>
          <p:nvPr/>
        </p:nvSpPr>
        <p:spPr>
          <a:xfrm>
            <a:off x="9459468" y="2057400"/>
            <a:ext cx="1280160" cy="12801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9" name="Image 4" descr="/tmp/claude-0/-home-user-DM-/98b145ee-d85d-5913-a881-95f99ca0c0f7/scratchpad/josei-pptx/icons/check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6706" y="2364638"/>
            <a:ext cx="665683" cy="665683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505188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9162288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導入後フォロー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9025128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交付後の実績報告等を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サポート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40080" y="52120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7F4"/>
          </a:solidFill>
          <a:ln/>
        </p:spPr>
      </p:sp>
      <p:sp>
        <p:nvSpPr>
          <p:cNvPr id="34" name="Text 27"/>
          <p:cNvSpPr/>
          <p:nvPr/>
        </p:nvSpPr>
        <p:spPr>
          <a:xfrm>
            <a:off x="914400" y="52120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ご相談・AI診断は無料です。まずはお気軽にご相談ください。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補助金・優遇制度の活用支援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太陽光・蓄電池・省エネ設備は、国や自治体の補助金・優遇制度の対象になる場合があります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3566160"/>
        </p:xfrm>
        <a:graphic>
          <a:graphicData uri="http://schemas.openxmlformats.org/drawingml/2006/table">
            <a:tbl>
              <a:tblPr/>
              <a:tblGrid>
                <a:gridCol w="4480560"/>
                <a:gridCol w="3200400"/>
                <a:gridCol w="32004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制度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対象設備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内容の目安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国の太陽光・蓄電池関連補助金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太陽光パネル・産業用蓄電池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設備費の一部を補助（年度により変動）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省エネ関連の補助金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LED・省エネエアコン等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更新費用の一部を補助する制度あり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自治体独自の補助制度（例：クールネット東京 等）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太陽光・蓄電池・省エネ設備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自治体により対象・金額が異なる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税制優遇（中小企業経営強化税制 等）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生産性向上に資する設備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即時償却・税額控除の選択が可能な場合あり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※制度は年度・自治体により新設・終了・要件変更があります。地域ごとの最新情報は無料相談時にご案内します。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ご利用にあたって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安心してご相談いただくために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5" name="Shape 3"/>
          <p:cNvSpPr/>
          <p:nvPr/>
        </p:nvSpPr>
        <p:spPr>
          <a:xfrm>
            <a:off x="982980" y="22402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6" name="Image 0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518" y="242681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初回相談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920240" y="24688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80760" y="17373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0" name="Shape 7"/>
          <p:cNvSpPr/>
          <p:nvPr/>
        </p:nvSpPr>
        <p:spPr>
          <a:xfrm>
            <a:off x="6423660" y="22402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laptop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98" y="242681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AI診断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360920" y="24688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5" name="Shape 11"/>
          <p:cNvSpPr/>
          <p:nvPr/>
        </p:nvSpPr>
        <p:spPr>
          <a:xfrm>
            <a:off x="982980" y="42976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6" name="Image 2" descr="/tmp/claude-0/-home-user-DM-/98b145ee-d85d-5913-a881-95f99ca0c0f7/scratchpad/josei-pptx/icons/shield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18" y="448421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0690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勧誘方針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920240" y="45262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無理な勧誘は行いません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080760" y="37947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20" name="Shape 15"/>
          <p:cNvSpPr/>
          <p:nvPr/>
        </p:nvSpPr>
        <p:spPr>
          <a:xfrm>
            <a:off x="6423660" y="42976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1" name="Image 3" descr="/tmp/claude-0/-home-user-DM-/98b145ee-d85d-5913-a881-95f99ca0c0f7/scratchpad/josei-pptx/icons/handshak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198" y="448421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40690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施工・工事費用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60920" y="45262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ご紹介する地域の施工会社との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個別のお見積りによります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よくあるご質問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25880" y="1371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本当に30〜50%も削減できますか？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325880" y="1828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支援先の導入実績に基づく削減率です。建物条件・使用状況により効果は異なるため、無料相談で個別にご案内します。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514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初期費用はどのくらいかかりますか？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25880" y="2971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設備・規模やご紹介する施工会社により異なります。補助金活用で自己負担を抑えられる場合もございます。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3657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特定の施工業者に誘導されませんか？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325880" y="4114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当協会は特定業者に偏らない中立な立場です。実績のある地域の施工会社を複数の選択肢としてご紹介します。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800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25880" y="4800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しつこい営業はありませんか？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325880" y="5257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無理な勧誘は行っておりません。限られた時間で動く中小企業の現場を前提に、無理のない進め方をご提案します。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会社概要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5120640"/>
        </p:xfrm>
        <a:graphic>
          <a:graphicData uri="http://schemas.openxmlformats.org/drawingml/2006/table">
            <a:tbl>
              <a:tblPr/>
              <a:tblGrid>
                <a:gridCol w="2194560"/>
                <a:gridCol w="8686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商号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一般社団法人 中小企業助成金支援協会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代表理事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鬼頭 涼太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法人番号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2010005041540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2026年3月17日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所在地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〒104-0053　東京都中央区晴海1丁目8番15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晴海アイランドトリトンスクエア オフィスタワーX棟 9F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事業内容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省エネ補助金・助成金情報提供、地域の施工会社紹介、省エネ設備導入相談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監修体制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特別顧問：藤原 吉恒（博士・学際総合研究所 代表取締役CEO）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対応エリア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全国対応（オンライン相談可）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まずは無料相談から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貴社が対象になりうる省エネ補助金を、AI診断で無料チェック。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無理な勧誘は行いません。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6035040" cy="777240"/>
          </a:xfrm>
          <a:prstGeom prst="roundRect">
            <a:avLst>
              <a:gd name="adj" fmla="val 11765"/>
            </a:avLst>
          </a:prstGeom>
          <a:solidFill>
            <a:srgbClr val="F2A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83464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6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無料相談・お問い合わせはこちら　＞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TEL：03-6843-8436（平日 9:00〜18:00）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URL：https://shoene-joseikin.jp/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0" y="2834640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0" y="28346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（フォームへ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リンク）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／　※記載の削減率・制度内容は変更される場合があります。最新の情報は無料相談時にご確認ください。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2026-08-23T23:33:55Z</dcterms:created>
  <dcterms:modified xsi:type="dcterms:W3CDTF">2026-08-23T23:33:55Z</dcterms:modified>
</cp:coreProperties>
</file>